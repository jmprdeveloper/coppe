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93406B-8737-3CC3-2A84-011EE6E705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4E7DA51-786B-20ED-C50F-4515144B2E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F24DC1-78F3-8B7D-E631-29C0AB617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E04CB-E945-4AA7-A404-4F0E4A1516C2}" type="datetimeFigureOut">
              <a:rPr lang="es-ES" smtClean="0"/>
              <a:t>30/06/2026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FF33E0E-A012-8FC6-D428-D7A006D70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53EEC06-3426-6F9A-BD88-BE165084A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540A8-48CD-4F3C-9470-1CDC3B79399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9122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E2AE0E-FE07-015A-8827-B58467415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CEAB3D4-9A9E-4383-2020-E174D0B870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47E59D6-8444-39E9-1909-8C742BEF6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E04CB-E945-4AA7-A404-4F0E4A1516C2}" type="datetimeFigureOut">
              <a:rPr lang="es-ES" smtClean="0"/>
              <a:t>30/06/2026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A3CB33-CFE0-55FC-D18C-4B6BE66E5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5FA4B81-1344-5E04-963F-B53CBBCAA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540A8-48CD-4F3C-9470-1CDC3B79399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67522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4DD8C2-2456-5F6C-A62C-D520309DF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35FAA75-7A96-8AFB-90F6-3EF676852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66EFAB6-C8F1-5788-465F-F54AEE86D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E04CB-E945-4AA7-A404-4F0E4A1516C2}" type="datetimeFigureOut">
              <a:rPr lang="es-ES" smtClean="0"/>
              <a:t>30/06/2026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FEE883C-0C20-6BBA-EDFE-7D9A64B53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CAAAF59-FE8B-7D3D-2094-C858AB296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540A8-48CD-4F3C-9470-1CDC3B79399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14859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4C7E81-F3AC-21F2-79D4-906361E93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66FA00-A70B-8293-23C3-4B71DCBB92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9819FD1-912F-F62E-C5E3-839D9E5BF9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4303923-A351-8BE6-50E1-54999FC75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E04CB-E945-4AA7-A404-4F0E4A1516C2}" type="datetimeFigureOut">
              <a:rPr lang="es-ES" smtClean="0"/>
              <a:t>30/06/2026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11E33ED-A1FD-7C53-0F37-495799634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5D72887-3A0F-BA4C-F5D0-4A6A4BD0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540A8-48CD-4F3C-9470-1CDC3B79399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51998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596472-3C8C-46A2-B743-B46934131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D0AA6CE-EAF9-EE08-9E89-12A82E6FA3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448176F-FAA7-9CA5-D881-0ADF6FF4DE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A0E01D9-AA2F-7E1C-3F64-A7EF7E219D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FC27076-8E5A-C534-E8F1-6D74FF76E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83568CEB-3301-89F8-5F70-B94573181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E04CB-E945-4AA7-A404-4F0E4A1516C2}" type="datetimeFigureOut">
              <a:rPr lang="es-ES" smtClean="0"/>
              <a:t>30/06/2026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18222E5-83DE-A9AC-E5E4-2DBD5552C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C91208D-5F1D-D538-6E5E-F8FC05031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540A8-48CD-4F3C-9470-1CDC3B79399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12716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157532-0BF5-B0BD-4F10-A1CA0500DF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3D1175C-4949-A63D-33F4-356D430ED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E04CB-E945-4AA7-A404-4F0E4A1516C2}" type="datetimeFigureOut">
              <a:rPr lang="es-ES" smtClean="0"/>
              <a:t>30/06/2026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A5C86FE-846B-63C4-7ADC-FDF575727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86E03B1-1EDF-35B9-AE83-DB25B90CC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540A8-48CD-4F3C-9470-1CDC3B79399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12965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F34EB4A-520A-262F-49C1-9E8A77CCB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E04CB-E945-4AA7-A404-4F0E4A1516C2}" type="datetimeFigureOut">
              <a:rPr lang="es-ES" smtClean="0"/>
              <a:t>30/06/2026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28FE156-557C-81DD-CA65-507754D20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E0E39E0-2835-3B9A-35D6-B27E1DC67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540A8-48CD-4F3C-9470-1CDC3B79399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28317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608289-B74C-3F4D-3617-6B0475A30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AD8D000-3014-F263-22F1-24BB4D0822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19E9EDA-774F-18BE-46A6-34C5C76B77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F8F9D98-4E06-9C0A-D18E-DB39D773C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E04CB-E945-4AA7-A404-4F0E4A1516C2}" type="datetimeFigureOut">
              <a:rPr lang="es-ES" smtClean="0"/>
              <a:t>30/06/2026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B2055F2-5494-BC1C-7F57-E46CBA043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ED96F0D-F60D-6DCA-555E-BDCBE0BC8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540A8-48CD-4F3C-9470-1CDC3B79399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03731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393574-8B38-1816-B701-8573C8D72F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C2A6E9F-C14F-3C02-EDF4-44684487D0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5800D22-D0D1-7E6E-621D-2E77406B92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4978880-79CE-17FD-BD8D-A95F530CC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E04CB-E945-4AA7-A404-4F0E4A1516C2}" type="datetimeFigureOut">
              <a:rPr lang="es-ES" smtClean="0"/>
              <a:t>30/06/2026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AAB4F21-22D0-AE39-E392-620E2975D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499E95D-7ED5-39B7-378E-C80434588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540A8-48CD-4F3C-9470-1CDC3B79399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23943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C5B74F-4247-FD5E-B5AD-09BBC38AD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3B2A650-B0EB-5907-4292-0A8201F30F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46B63AF-F33B-8E18-503E-08E5EEBD7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E04CB-E945-4AA7-A404-4F0E4A1516C2}" type="datetimeFigureOut">
              <a:rPr lang="es-ES" smtClean="0"/>
              <a:t>30/06/2026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27957E5-1C09-B234-B3FC-E05CE7808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30EE471-E8C4-05CB-CDDC-FE32F70B7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540A8-48CD-4F3C-9470-1CDC3B79399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86199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854B54B-36ED-866A-C014-942C8EAF0F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5F50C3F-5816-771E-F012-388F08926B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6BC50B-D208-D21C-0489-601955DC6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E04CB-E945-4AA7-A404-4F0E4A1516C2}" type="datetimeFigureOut">
              <a:rPr lang="es-ES" smtClean="0"/>
              <a:t>30/06/2026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9047EEB-A1BD-022E-E530-458A8875B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282539B-AF41-28D6-6697-EA2BA8EFF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8540A8-48CD-4F3C-9470-1CDC3B79399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90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9D264BB-C44F-6474-EE86-49331AE25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2AD0DF8-EEFF-9BB2-CB1D-76AA6E03F5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425DAF4-B94E-DD83-3627-D63B68FA70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5E04CB-E945-4AA7-A404-4F0E4A1516C2}" type="datetimeFigureOut">
              <a:rPr lang="es-ES" smtClean="0"/>
              <a:t>30/06/2026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D2A7C6F-4A52-1C2E-67F7-6E2222F21A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405BCBD-C57F-84E8-CD82-1324250F6D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8540A8-48CD-4F3C-9470-1CDC3B79399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2650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B6FAD8BA-AFE1-F568-CB54-43557806441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3038"/>
          </a:solidFill>
          <a:ln>
            <a:solidFill>
              <a:srgbClr val="0F30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D3434BCA-93E1-A3F2-7A29-3B145BAA55BA}"/>
              </a:ext>
            </a:extLst>
          </p:cNvPr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rgbClr val="F05A28"/>
          </a:solidFill>
          <a:ln>
            <a:solidFill>
              <a:srgbClr val="F05A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B3AFC44-CC85-B4EC-315B-ABB5E7882EFC}"/>
              </a:ext>
            </a:extLst>
          </p:cNvPr>
          <p:cNvSpPr txBox="1"/>
          <p:nvPr/>
        </p:nvSpPr>
        <p:spPr>
          <a:xfrm>
            <a:off x="812800" y="787400"/>
            <a:ext cx="3810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3400" b="1">
                <a:solidFill>
                  <a:srgbClr val="FFFFFF"/>
                </a:solidFill>
                <a:latin typeface="Aptos Display" panose="020B0004020202020204" pitchFamily="34" charset="0"/>
              </a:rPr>
              <a:t>COPPE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6AEB539-D2F4-87FD-7FE5-9663EEA303F9}"/>
              </a:ext>
            </a:extLst>
          </p:cNvPr>
          <p:cNvSpPr txBox="1"/>
          <p:nvPr/>
        </p:nvSpPr>
        <p:spPr>
          <a:xfrm>
            <a:off x="812800" y="1905000"/>
            <a:ext cx="9779000" cy="5078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3300" b="1">
                <a:solidFill>
                  <a:srgbClr val="FFFFFF"/>
                </a:solidFill>
                <a:latin typeface="Aptos Display" panose="020B0004020202020204" pitchFamily="34" charset="0"/>
              </a:rPr>
              <a:t>Atención al cliente convertida en trabajo organizado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103D1C4-C100-2B60-2EAD-AD24F89A27B9}"/>
              </a:ext>
            </a:extLst>
          </p:cNvPr>
          <p:cNvSpPr txBox="1"/>
          <p:nvPr/>
        </p:nvSpPr>
        <p:spPr>
          <a:xfrm>
            <a:off x="812800" y="3708400"/>
            <a:ext cx="9398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>
                <a:solidFill>
                  <a:srgbClr val="CDE2E5"/>
                </a:solidFill>
                <a:latin typeface="Aptos" panose="020B0004020202020204" pitchFamily="34" charset="0"/>
              </a:rPr>
              <a:t>Centraliza consultas, prepara respuestas con IA y convierte cada conversación en una acción trazable.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DE133BA7-E7F0-7BDC-96EC-99AF26F217CB}"/>
              </a:ext>
            </a:extLst>
          </p:cNvPr>
          <p:cNvSpPr/>
          <p:nvPr/>
        </p:nvSpPr>
        <p:spPr>
          <a:xfrm>
            <a:off x="812800" y="5143500"/>
            <a:ext cx="3911600" cy="685800"/>
          </a:xfrm>
          <a:prstGeom prst="roundRect">
            <a:avLst>
              <a:gd name="adj" fmla="val 15000"/>
            </a:avLst>
          </a:prstGeom>
          <a:solidFill>
            <a:srgbClr val="F05A28"/>
          </a:solidFill>
          <a:ln>
            <a:solidFill>
              <a:srgbClr val="F05A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CB28742-233B-C458-8368-012403CB03AC}"/>
              </a:ext>
            </a:extLst>
          </p:cNvPr>
          <p:cNvSpPr txBox="1"/>
          <p:nvPr/>
        </p:nvSpPr>
        <p:spPr>
          <a:xfrm>
            <a:off x="1066800" y="5321300"/>
            <a:ext cx="3403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600" b="1">
                <a:solidFill>
                  <a:srgbClr val="FFFFFF"/>
                </a:solidFill>
                <a:latin typeface="Aptos" panose="020B0004020202020204" pitchFamily="34" charset="0"/>
              </a:rPr>
              <a:t>Piloto B2B · 30 días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62A93E14-E068-B01B-D171-4890E9C882AF}"/>
              </a:ext>
            </a:extLst>
          </p:cNvPr>
          <p:cNvSpPr txBox="1"/>
          <p:nvPr/>
        </p:nvSpPr>
        <p:spPr>
          <a:xfrm>
            <a:off x="9347200" y="6223000"/>
            <a:ext cx="2032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ES" sz="1100">
                <a:solidFill>
                  <a:srgbClr val="CDE2E5"/>
                </a:solidFill>
                <a:latin typeface="Aptos" panose="020B0004020202020204" pitchFamily="34" charset="0"/>
              </a:rPr>
              <a:t>app.coppe.es</a:t>
            </a:r>
          </a:p>
        </p:txBody>
      </p:sp>
    </p:spTree>
    <p:extLst>
      <p:ext uri="{BB962C8B-B14F-4D97-AF65-F5344CB8AC3E}">
        <p14:creationId xmlns:p14="http://schemas.microsoft.com/office/powerpoint/2010/main" val="27629835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E0816FA1-535C-CF15-E2D9-BDB73206048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A"/>
          </a:solidFill>
          <a:ln>
            <a:solidFill>
              <a:srgbClr val="F8F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D9CFE45-F87F-A374-7854-F24AE7322F3C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F05A28"/>
          </a:solidFill>
          <a:ln>
            <a:solidFill>
              <a:srgbClr val="F05A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8888AD9-76F7-6246-89A3-A901B60F2BD1}"/>
              </a:ext>
            </a:extLst>
          </p:cNvPr>
          <p:cNvSpPr txBox="1"/>
          <p:nvPr/>
        </p:nvSpPr>
        <p:spPr>
          <a:xfrm>
            <a:off x="609600" y="355600"/>
            <a:ext cx="279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100" b="1">
                <a:solidFill>
                  <a:srgbClr val="F05A28"/>
                </a:solidFill>
                <a:latin typeface="Aptos" panose="020B0004020202020204" pitchFamily="34" charset="0"/>
              </a:rPr>
              <a:t>01 · PROBLEMA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8A82808-6E01-37AA-C313-F73ABCA035C6}"/>
              </a:ext>
            </a:extLst>
          </p:cNvPr>
          <p:cNvSpPr txBox="1"/>
          <p:nvPr/>
        </p:nvSpPr>
        <p:spPr>
          <a:xfrm>
            <a:off x="609600" y="685800"/>
            <a:ext cx="109728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2700" b="1">
                <a:solidFill>
                  <a:srgbClr val="0F3038"/>
                </a:solidFill>
                <a:latin typeface="Aptos Display" panose="020B0004020202020204" pitchFamily="34" charset="0"/>
              </a:rPr>
              <a:t>Las consultas llegan; el trabajo se dispersa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BF0831F-7248-747D-2B99-6C8B6112708F}"/>
              </a:ext>
            </a:extLst>
          </p:cNvPr>
          <p:cNvSpPr txBox="1"/>
          <p:nvPr/>
        </p:nvSpPr>
        <p:spPr>
          <a:xfrm>
            <a:off x="609600" y="6502400"/>
            <a:ext cx="381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900">
                <a:solidFill>
                  <a:srgbClr val="57696F"/>
                </a:solidFill>
                <a:latin typeface="Aptos" panose="020B0004020202020204" pitchFamily="34" charset="0"/>
              </a:rPr>
              <a:t>COPPE · Presentación comercial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885FAF2-E72C-8974-426F-8E87D3D75DCB}"/>
              </a:ext>
            </a:extLst>
          </p:cNvPr>
          <p:cNvSpPr txBox="1"/>
          <p:nvPr/>
        </p:nvSpPr>
        <p:spPr>
          <a:xfrm>
            <a:off x="11303000" y="6502400"/>
            <a:ext cx="279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ES" sz="900">
                <a:solidFill>
                  <a:srgbClr val="57696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8C381EA4-9C80-5BE7-795B-143BEF81B639}"/>
              </a:ext>
            </a:extLst>
          </p:cNvPr>
          <p:cNvSpPr/>
          <p:nvPr/>
        </p:nvSpPr>
        <p:spPr>
          <a:xfrm>
            <a:off x="609600" y="1651000"/>
            <a:ext cx="2540000" cy="1803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CD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5F48A4EA-C857-0176-3B82-20C28C17F860}"/>
              </a:ext>
            </a:extLst>
          </p:cNvPr>
          <p:cNvSpPr/>
          <p:nvPr/>
        </p:nvSpPr>
        <p:spPr>
          <a:xfrm>
            <a:off x="609600" y="1651000"/>
            <a:ext cx="76200" cy="1803400"/>
          </a:xfrm>
          <a:prstGeom prst="rect">
            <a:avLst/>
          </a:prstGeom>
          <a:solidFill>
            <a:srgbClr val="0D515B"/>
          </a:solidFill>
          <a:ln>
            <a:solidFill>
              <a:srgbClr val="0D51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DC0B28E-ADCE-25CA-209D-6B593434BDF6}"/>
              </a:ext>
            </a:extLst>
          </p:cNvPr>
          <p:cNvSpPr txBox="1"/>
          <p:nvPr/>
        </p:nvSpPr>
        <p:spPr>
          <a:xfrm>
            <a:off x="863600" y="1879600"/>
            <a:ext cx="21082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600" b="1">
                <a:solidFill>
                  <a:srgbClr val="0F3038"/>
                </a:solidFill>
                <a:latin typeface="Aptos" panose="020B0004020202020204" pitchFamily="34" charset="0"/>
              </a:rPr>
              <a:t>Canales separados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BF3DA67E-B1EC-3C38-959C-9C14AE71D5D5}"/>
              </a:ext>
            </a:extLst>
          </p:cNvPr>
          <p:cNvSpPr txBox="1"/>
          <p:nvPr/>
        </p:nvSpPr>
        <p:spPr>
          <a:xfrm>
            <a:off x="863600" y="2311400"/>
            <a:ext cx="2108200" cy="53091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150">
                <a:solidFill>
                  <a:srgbClr val="57696F"/>
                </a:solidFill>
                <a:latin typeface="Aptos" panose="020B0004020202020204" pitchFamily="34" charset="0"/>
              </a:rPr>
              <a:t>Email, WhatsApp, formularios, llamadas y redes sin una visión única.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BF2C9A48-72C5-5CEE-E8AB-2D980D26B8C3}"/>
              </a:ext>
            </a:extLst>
          </p:cNvPr>
          <p:cNvSpPr/>
          <p:nvPr/>
        </p:nvSpPr>
        <p:spPr>
          <a:xfrm>
            <a:off x="3365500" y="1651000"/>
            <a:ext cx="2540000" cy="1803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CD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73E1975A-EAF3-6D8E-2E7C-AFC4FE1D456A}"/>
              </a:ext>
            </a:extLst>
          </p:cNvPr>
          <p:cNvSpPr/>
          <p:nvPr/>
        </p:nvSpPr>
        <p:spPr>
          <a:xfrm>
            <a:off x="3365500" y="1651000"/>
            <a:ext cx="76200" cy="1803400"/>
          </a:xfrm>
          <a:prstGeom prst="rect">
            <a:avLst/>
          </a:prstGeom>
          <a:solidFill>
            <a:srgbClr val="0D515B"/>
          </a:solidFill>
          <a:ln>
            <a:solidFill>
              <a:srgbClr val="0D51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E382D322-E63D-4977-7A2C-FB1C1326997F}"/>
              </a:ext>
            </a:extLst>
          </p:cNvPr>
          <p:cNvSpPr txBox="1"/>
          <p:nvPr/>
        </p:nvSpPr>
        <p:spPr>
          <a:xfrm>
            <a:off x="3619500" y="1879600"/>
            <a:ext cx="21082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600" b="1">
                <a:solidFill>
                  <a:srgbClr val="0F3038"/>
                </a:solidFill>
                <a:latin typeface="Aptos" panose="020B0004020202020204" pitchFamily="34" charset="0"/>
              </a:rPr>
              <a:t>Contexto fragmentado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D56E4D0-9E3C-8F9E-F075-ED509FA6E7D8}"/>
              </a:ext>
            </a:extLst>
          </p:cNvPr>
          <p:cNvSpPr txBox="1"/>
          <p:nvPr/>
        </p:nvSpPr>
        <p:spPr>
          <a:xfrm>
            <a:off x="3619500" y="2311400"/>
            <a:ext cx="2108200" cy="53091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150">
                <a:solidFill>
                  <a:srgbClr val="57696F"/>
                </a:solidFill>
                <a:latin typeface="Aptos" panose="020B0004020202020204" pitchFamily="34" charset="0"/>
              </a:rPr>
              <a:t>Cada persona conserva una parte de la conversación y de las decisiones.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71307EEB-89A7-E97C-CA78-2F12FAF6F208}"/>
              </a:ext>
            </a:extLst>
          </p:cNvPr>
          <p:cNvSpPr/>
          <p:nvPr/>
        </p:nvSpPr>
        <p:spPr>
          <a:xfrm>
            <a:off x="6121400" y="1651000"/>
            <a:ext cx="2540000" cy="1803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CD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0265E70-48AD-F730-E8FC-FA98E0042253}"/>
              </a:ext>
            </a:extLst>
          </p:cNvPr>
          <p:cNvSpPr/>
          <p:nvPr/>
        </p:nvSpPr>
        <p:spPr>
          <a:xfrm>
            <a:off x="6121400" y="1651000"/>
            <a:ext cx="76200" cy="1803400"/>
          </a:xfrm>
          <a:prstGeom prst="rect">
            <a:avLst/>
          </a:prstGeom>
          <a:solidFill>
            <a:srgbClr val="0D515B"/>
          </a:solidFill>
          <a:ln>
            <a:solidFill>
              <a:srgbClr val="0D51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59E2B29B-D692-F683-8465-8EAE5285089A}"/>
              </a:ext>
            </a:extLst>
          </p:cNvPr>
          <p:cNvSpPr txBox="1"/>
          <p:nvPr/>
        </p:nvSpPr>
        <p:spPr>
          <a:xfrm>
            <a:off x="6375400" y="1879600"/>
            <a:ext cx="21082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600" b="1">
                <a:solidFill>
                  <a:srgbClr val="0F3038"/>
                </a:solidFill>
                <a:latin typeface="Aptos" panose="020B0004020202020204" pitchFamily="34" charset="0"/>
              </a:rPr>
              <a:t>Seguimientos olvidados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035FDA83-786C-97C6-7275-AB791743D496}"/>
              </a:ext>
            </a:extLst>
          </p:cNvPr>
          <p:cNvSpPr txBox="1"/>
          <p:nvPr/>
        </p:nvSpPr>
        <p:spPr>
          <a:xfrm>
            <a:off x="6375400" y="2311400"/>
            <a:ext cx="2108200" cy="53091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150">
                <a:solidFill>
                  <a:srgbClr val="57696F"/>
                </a:solidFill>
                <a:latin typeface="Aptos" panose="020B0004020202020204" pitchFamily="34" charset="0"/>
              </a:rPr>
              <a:t>Los pendientes viven en notas, memoria o calendarios desconectados.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B123CC5C-70FF-D191-8EE1-AA217001E7BD}"/>
              </a:ext>
            </a:extLst>
          </p:cNvPr>
          <p:cNvSpPr/>
          <p:nvPr/>
        </p:nvSpPr>
        <p:spPr>
          <a:xfrm>
            <a:off x="8877300" y="1651000"/>
            <a:ext cx="2705100" cy="1803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CD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9169C532-56DA-306D-5F6B-FE5B0DE7E7A4}"/>
              </a:ext>
            </a:extLst>
          </p:cNvPr>
          <p:cNvSpPr/>
          <p:nvPr/>
        </p:nvSpPr>
        <p:spPr>
          <a:xfrm>
            <a:off x="8877300" y="1651000"/>
            <a:ext cx="76200" cy="1803400"/>
          </a:xfrm>
          <a:prstGeom prst="rect">
            <a:avLst/>
          </a:prstGeom>
          <a:solidFill>
            <a:srgbClr val="0D515B"/>
          </a:solidFill>
          <a:ln>
            <a:solidFill>
              <a:srgbClr val="0D51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6DA284EB-0574-B082-D799-BF642E52BFCF}"/>
              </a:ext>
            </a:extLst>
          </p:cNvPr>
          <p:cNvSpPr txBox="1"/>
          <p:nvPr/>
        </p:nvSpPr>
        <p:spPr>
          <a:xfrm>
            <a:off x="9131300" y="1879600"/>
            <a:ext cx="22733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600" b="1">
                <a:solidFill>
                  <a:srgbClr val="0F3038"/>
                </a:solidFill>
                <a:latin typeface="Aptos" panose="020B0004020202020204" pitchFamily="34" charset="0"/>
              </a:rPr>
              <a:t>Respuesta lenta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0D0FF626-369D-1151-4AD7-A46E0BC762B6}"/>
              </a:ext>
            </a:extLst>
          </p:cNvPr>
          <p:cNvSpPr txBox="1"/>
          <p:nvPr/>
        </p:nvSpPr>
        <p:spPr>
          <a:xfrm>
            <a:off x="9131300" y="2311400"/>
            <a:ext cx="22733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150">
                <a:solidFill>
                  <a:srgbClr val="57696F"/>
                </a:solidFill>
                <a:latin typeface="Aptos" panose="020B0004020202020204" pitchFamily="34" charset="0"/>
              </a:rPr>
              <a:t>Leer, clasificar y redactar desde cero consume tiempo operativo.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BA3E57F8-214B-0408-751E-81B09E9AC6CA}"/>
              </a:ext>
            </a:extLst>
          </p:cNvPr>
          <p:cNvSpPr txBox="1"/>
          <p:nvPr/>
        </p:nvSpPr>
        <p:spPr>
          <a:xfrm>
            <a:off x="1320800" y="4114800"/>
            <a:ext cx="9550400" cy="70788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ES" sz="2300" b="1">
                <a:solidFill>
                  <a:srgbClr val="0D515B"/>
                </a:solidFill>
                <a:latin typeface="Aptos Display" panose="020B0004020202020204" pitchFamily="34" charset="0"/>
              </a:rPr>
              <a:t>El coste real no es solo responder tarde: es perder continuidad, responsabilidad y oportunidades.</a:t>
            </a:r>
          </a:p>
        </p:txBody>
      </p:sp>
    </p:spTree>
    <p:extLst>
      <p:ext uri="{BB962C8B-B14F-4D97-AF65-F5344CB8AC3E}">
        <p14:creationId xmlns:p14="http://schemas.microsoft.com/office/powerpoint/2010/main" val="3514627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FB7A3803-FACE-7AE6-0C69-AEF74CC0ADF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A"/>
          </a:solidFill>
          <a:ln>
            <a:solidFill>
              <a:srgbClr val="F8F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E130C4C6-CE02-C7CD-7F0B-1E5D0ABEA491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F05A28"/>
          </a:solidFill>
          <a:ln>
            <a:solidFill>
              <a:srgbClr val="F05A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8C87671-9F84-5312-A375-762507E750B7}"/>
              </a:ext>
            </a:extLst>
          </p:cNvPr>
          <p:cNvSpPr txBox="1"/>
          <p:nvPr/>
        </p:nvSpPr>
        <p:spPr>
          <a:xfrm>
            <a:off x="609600" y="355600"/>
            <a:ext cx="279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100" b="1">
                <a:solidFill>
                  <a:srgbClr val="F05A28"/>
                </a:solidFill>
                <a:latin typeface="Aptos" panose="020B0004020202020204" pitchFamily="34" charset="0"/>
              </a:rPr>
              <a:t>02 · SOLUCIÓN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2FEF1E3-C8B6-D25A-E1DF-C153235BA705}"/>
              </a:ext>
            </a:extLst>
          </p:cNvPr>
          <p:cNvSpPr txBox="1"/>
          <p:nvPr/>
        </p:nvSpPr>
        <p:spPr>
          <a:xfrm>
            <a:off x="609600" y="685800"/>
            <a:ext cx="109728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2700" b="1">
                <a:solidFill>
                  <a:srgbClr val="0F3038"/>
                </a:solidFill>
                <a:latin typeface="Aptos Display" panose="020B0004020202020204" pitchFamily="34" charset="0"/>
              </a:rPr>
              <a:t>Un flujo común para cada conversación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BF3E63A-8EF5-480E-69B3-84AF23EE4A87}"/>
              </a:ext>
            </a:extLst>
          </p:cNvPr>
          <p:cNvSpPr txBox="1"/>
          <p:nvPr/>
        </p:nvSpPr>
        <p:spPr>
          <a:xfrm>
            <a:off x="609600" y="6502400"/>
            <a:ext cx="381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900">
                <a:solidFill>
                  <a:srgbClr val="57696F"/>
                </a:solidFill>
                <a:latin typeface="Aptos" panose="020B0004020202020204" pitchFamily="34" charset="0"/>
              </a:rPr>
              <a:t>COPPE · Presentación comercial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AA6D58F-8999-2014-711D-20617B5DB60D}"/>
              </a:ext>
            </a:extLst>
          </p:cNvPr>
          <p:cNvSpPr txBox="1"/>
          <p:nvPr/>
        </p:nvSpPr>
        <p:spPr>
          <a:xfrm>
            <a:off x="11303000" y="6502400"/>
            <a:ext cx="279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ES" sz="900">
                <a:solidFill>
                  <a:srgbClr val="57696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83D3867C-8B29-DA36-AC12-86E54E89A082}"/>
              </a:ext>
            </a:extLst>
          </p:cNvPr>
          <p:cNvSpPr/>
          <p:nvPr/>
        </p:nvSpPr>
        <p:spPr>
          <a:xfrm>
            <a:off x="609600" y="1879600"/>
            <a:ext cx="1905000" cy="2857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CD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6F8D5357-3D46-AFB0-B846-3182559FD20F}"/>
              </a:ext>
            </a:extLst>
          </p:cNvPr>
          <p:cNvSpPr/>
          <p:nvPr/>
        </p:nvSpPr>
        <p:spPr>
          <a:xfrm>
            <a:off x="838200" y="2108200"/>
            <a:ext cx="533400" cy="533400"/>
          </a:xfrm>
          <a:prstGeom prst="roundRect">
            <a:avLst>
              <a:gd name="adj" fmla="val 30000"/>
            </a:avLst>
          </a:prstGeom>
          <a:solidFill>
            <a:srgbClr val="F05A28"/>
          </a:solidFill>
          <a:ln>
            <a:solidFill>
              <a:srgbClr val="F05A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F53B97B-7037-C3E5-61F6-77F7C08E18D5}"/>
              </a:ext>
            </a:extLst>
          </p:cNvPr>
          <p:cNvSpPr txBox="1"/>
          <p:nvPr/>
        </p:nvSpPr>
        <p:spPr>
          <a:xfrm>
            <a:off x="838200" y="2235200"/>
            <a:ext cx="533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ES" sz="15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EE8419E8-B246-74F4-DEA9-304D4E4630E9}"/>
              </a:ext>
            </a:extLst>
          </p:cNvPr>
          <p:cNvSpPr txBox="1"/>
          <p:nvPr/>
        </p:nvSpPr>
        <p:spPr>
          <a:xfrm>
            <a:off x="838200" y="2870200"/>
            <a:ext cx="14732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600" b="1">
                <a:solidFill>
                  <a:srgbClr val="0F3038"/>
                </a:solidFill>
                <a:latin typeface="Aptos" panose="020B0004020202020204" pitchFamily="34" charset="0"/>
              </a:rPr>
              <a:t>Contacto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E06E2EF1-1C59-8D92-C788-384A123E846A}"/>
              </a:ext>
            </a:extLst>
          </p:cNvPr>
          <p:cNvSpPr txBox="1"/>
          <p:nvPr/>
        </p:nvSpPr>
        <p:spPr>
          <a:xfrm>
            <a:off x="838200" y="3403600"/>
            <a:ext cx="1473200" cy="5078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100">
                <a:solidFill>
                  <a:srgbClr val="57696F"/>
                </a:solidFill>
                <a:latin typeface="Aptos" panose="020B0004020202020204" pitchFamily="34" charset="0"/>
              </a:rPr>
              <a:t>Formulario, chat, email, WhatsApp o registro manual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915E270-2B41-9369-A773-E5771847DEAE}"/>
              </a:ext>
            </a:extLst>
          </p:cNvPr>
          <p:cNvSpPr txBox="1"/>
          <p:nvPr/>
        </p:nvSpPr>
        <p:spPr>
          <a:xfrm>
            <a:off x="2527300" y="3111500"/>
            <a:ext cx="3048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ES" sz="2000" b="1">
                <a:solidFill>
                  <a:srgbClr val="F05A28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14" name="Rectángulo: esquinas redondeadas 13">
            <a:extLst>
              <a:ext uri="{FF2B5EF4-FFF2-40B4-BE49-F238E27FC236}">
                <a16:creationId xmlns:a16="http://schemas.microsoft.com/office/drawing/2014/main" id="{073D3C53-954E-DB3E-F863-2FC6D94943DF}"/>
              </a:ext>
            </a:extLst>
          </p:cNvPr>
          <p:cNvSpPr/>
          <p:nvPr/>
        </p:nvSpPr>
        <p:spPr>
          <a:xfrm>
            <a:off x="2819400" y="1879600"/>
            <a:ext cx="1905000" cy="2857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CD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5CBC8FE7-223F-85C8-38A5-D3C7CADD7F39}"/>
              </a:ext>
            </a:extLst>
          </p:cNvPr>
          <p:cNvSpPr/>
          <p:nvPr/>
        </p:nvSpPr>
        <p:spPr>
          <a:xfrm>
            <a:off x="3048000" y="2108200"/>
            <a:ext cx="533400" cy="533400"/>
          </a:xfrm>
          <a:prstGeom prst="roundRect">
            <a:avLst>
              <a:gd name="adj" fmla="val 30000"/>
            </a:avLst>
          </a:prstGeom>
          <a:solidFill>
            <a:srgbClr val="F05A28"/>
          </a:solidFill>
          <a:ln>
            <a:solidFill>
              <a:srgbClr val="F05A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781F0A8-A67F-DE0D-0126-6A744AA97C73}"/>
              </a:ext>
            </a:extLst>
          </p:cNvPr>
          <p:cNvSpPr txBox="1"/>
          <p:nvPr/>
        </p:nvSpPr>
        <p:spPr>
          <a:xfrm>
            <a:off x="3048000" y="2235200"/>
            <a:ext cx="533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ES" sz="15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67F0E44-283C-F14A-A6B2-2E7D3500B969}"/>
              </a:ext>
            </a:extLst>
          </p:cNvPr>
          <p:cNvSpPr txBox="1"/>
          <p:nvPr/>
        </p:nvSpPr>
        <p:spPr>
          <a:xfrm>
            <a:off x="3048000" y="2870200"/>
            <a:ext cx="14732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600" b="1">
                <a:solidFill>
                  <a:srgbClr val="0F3038"/>
                </a:solidFill>
                <a:latin typeface="Aptos" panose="020B0004020202020204" pitchFamily="34" charset="0"/>
              </a:rPr>
              <a:t>Caso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02D7CB4-AB73-FB0B-21D9-5662EBF04466}"/>
              </a:ext>
            </a:extLst>
          </p:cNvPr>
          <p:cNvSpPr txBox="1"/>
          <p:nvPr/>
        </p:nvSpPr>
        <p:spPr>
          <a:xfrm>
            <a:off x="3048000" y="3403600"/>
            <a:ext cx="1473200" cy="5078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100">
                <a:solidFill>
                  <a:srgbClr val="57696F"/>
                </a:solidFill>
                <a:latin typeface="Aptos" panose="020B0004020202020204" pitchFamily="34" charset="0"/>
              </a:rPr>
              <a:t>Cliente, mensaje, estado, prioridad y categoría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7B46BE4-2545-06C1-B9A0-F250AFA3E25C}"/>
              </a:ext>
            </a:extLst>
          </p:cNvPr>
          <p:cNvSpPr txBox="1"/>
          <p:nvPr/>
        </p:nvSpPr>
        <p:spPr>
          <a:xfrm>
            <a:off x="4737100" y="3111500"/>
            <a:ext cx="3048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ES" sz="2000" b="1">
                <a:solidFill>
                  <a:srgbClr val="F05A28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DB7887A3-BAD8-823A-12B3-AA130C794CA7}"/>
              </a:ext>
            </a:extLst>
          </p:cNvPr>
          <p:cNvSpPr/>
          <p:nvPr/>
        </p:nvSpPr>
        <p:spPr>
          <a:xfrm>
            <a:off x="5029200" y="1879600"/>
            <a:ext cx="1905000" cy="2857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CD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100EFE3A-6D8E-74ED-CA25-69B4725C7641}"/>
              </a:ext>
            </a:extLst>
          </p:cNvPr>
          <p:cNvSpPr/>
          <p:nvPr/>
        </p:nvSpPr>
        <p:spPr>
          <a:xfrm>
            <a:off x="5257800" y="2108200"/>
            <a:ext cx="533400" cy="533400"/>
          </a:xfrm>
          <a:prstGeom prst="roundRect">
            <a:avLst>
              <a:gd name="adj" fmla="val 30000"/>
            </a:avLst>
          </a:prstGeom>
          <a:solidFill>
            <a:srgbClr val="F05A28"/>
          </a:solidFill>
          <a:ln>
            <a:solidFill>
              <a:srgbClr val="F05A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CD19DD4D-26D2-BC08-AFB8-2BD940579B20}"/>
              </a:ext>
            </a:extLst>
          </p:cNvPr>
          <p:cNvSpPr txBox="1"/>
          <p:nvPr/>
        </p:nvSpPr>
        <p:spPr>
          <a:xfrm>
            <a:off x="5257800" y="2235200"/>
            <a:ext cx="533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ES" sz="15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D784B3A8-BDAC-3793-4565-C12CDDB9F711}"/>
              </a:ext>
            </a:extLst>
          </p:cNvPr>
          <p:cNvSpPr txBox="1"/>
          <p:nvPr/>
        </p:nvSpPr>
        <p:spPr>
          <a:xfrm>
            <a:off x="5257800" y="2870200"/>
            <a:ext cx="14732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600" b="1">
                <a:solidFill>
                  <a:srgbClr val="0F3038"/>
                </a:solidFill>
                <a:latin typeface="Aptos" panose="020B0004020202020204" pitchFamily="34" charset="0"/>
              </a:rPr>
              <a:t>Asistente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2D4AE31E-07DB-6817-AE75-94883A8AE2B1}"/>
              </a:ext>
            </a:extLst>
          </p:cNvPr>
          <p:cNvSpPr txBox="1"/>
          <p:nvPr/>
        </p:nvSpPr>
        <p:spPr>
          <a:xfrm>
            <a:off x="5257800" y="3403600"/>
            <a:ext cx="1473200" cy="50783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100">
                <a:solidFill>
                  <a:srgbClr val="57696F"/>
                </a:solidFill>
                <a:latin typeface="Aptos" panose="020B0004020202020204" pitchFamily="34" charset="0"/>
              </a:rPr>
              <a:t>Resumen, intención, faltantes y borrador editable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32CD81C5-1311-19ED-0E57-90A9578FDC02}"/>
              </a:ext>
            </a:extLst>
          </p:cNvPr>
          <p:cNvSpPr txBox="1"/>
          <p:nvPr/>
        </p:nvSpPr>
        <p:spPr>
          <a:xfrm>
            <a:off x="6946900" y="3111500"/>
            <a:ext cx="3048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ES" sz="2000" b="1">
                <a:solidFill>
                  <a:srgbClr val="F05A28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26" name="Rectángulo: esquinas redondeadas 25">
            <a:extLst>
              <a:ext uri="{FF2B5EF4-FFF2-40B4-BE49-F238E27FC236}">
                <a16:creationId xmlns:a16="http://schemas.microsoft.com/office/drawing/2014/main" id="{FF1F7F15-CE8C-0CFD-D953-9A6ABBBD5A8A}"/>
              </a:ext>
            </a:extLst>
          </p:cNvPr>
          <p:cNvSpPr/>
          <p:nvPr/>
        </p:nvSpPr>
        <p:spPr>
          <a:xfrm>
            <a:off x="7239000" y="1879600"/>
            <a:ext cx="1905000" cy="2857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CD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7" name="Rectángulo: esquinas redondeadas 26">
            <a:extLst>
              <a:ext uri="{FF2B5EF4-FFF2-40B4-BE49-F238E27FC236}">
                <a16:creationId xmlns:a16="http://schemas.microsoft.com/office/drawing/2014/main" id="{CFFFC6B9-6278-F531-832C-4EABF84CBA0E}"/>
              </a:ext>
            </a:extLst>
          </p:cNvPr>
          <p:cNvSpPr/>
          <p:nvPr/>
        </p:nvSpPr>
        <p:spPr>
          <a:xfrm>
            <a:off x="7467600" y="2108200"/>
            <a:ext cx="533400" cy="533400"/>
          </a:xfrm>
          <a:prstGeom prst="roundRect">
            <a:avLst>
              <a:gd name="adj" fmla="val 30000"/>
            </a:avLst>
          </a:prstGeom>
          <a:solidFill>
            <a:srgbClr val="F05A28"/>
          </a:solidFill>
          <a:ln>
            <a:solidFill>
              <a:srgbClr val="F05A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21F638EA-D711-44E5-95A5-8BFEB9049448}"/>
              </a:ext>
            </a:extLst>
          </p:cNvPr>
          <p:cNvSpPr txBox="1"/>
          <p:nvPr/>
        </p:nvSpPr>
        <p:spPr>
          <a:xfrm>
            <a:off x="7467600" y="2235200"/>
            <a:ext cx="533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ES" sz="1500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B2771968-C863-D10F-9DE9-3C31D8EC3760}"/>
              </a:ext>
            </a:extLst>
          </p:cNvPr>
          <p:cNvSpPr txBox="1"/>
          <p:nvPr/>
        </p:nvSpPr>
        <p:spPr>
          <a:xfrm>
            <a:off x="7467600" y="2870200"/>
            <a:ext cx="14732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600" b="1">
                <a:solidFill>
                  <a:srgbClr val="0F3038"/>
                </a:solidFill>
                <a:latin typeface="Aptos" panose="020B0004020202020204" pitchFamily="34" charset="0"/>
              </a:rPr>
              <a:t>Responsable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C4525B14-F070-5435-056C-0B05C8C0BC67}"/>
              </a:ext>
            </a:extLst>
          </p:cNvPr>
          <p:cNvSpPr txBox="1"/>
          <p:nvPr/>
        </p:nvSpPr>
        <p:spPr>
          <a:xfrm>
            <a:off x="7467600" y="3403600"/>
            <a:ext cx="14732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100">
                <a:solidFill>
                  <a:srgbClr val="57696F"/>
                </a:solidFill>
                <a:latin typeface="Aptos" panose="020B0004020202020204" pitchFamily="34" charset="0"/>
              </a:rPr>
              <a:t>Asignación, notas y trazabilidad del trabajo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FFDA0A81-B768-6C5E-3402-207D6591C96D}"/>
              </a:ext>
            </a:extLst>
          </p:cNvPr>
          <p:cNvSpPr txBox="1"/>
          <p:nvPr/>
        </p:nvSpPr>
        <p:spPr>
          <a:xfrm>
            <a:off x="9156700" y="3111500"/>
            <a:ext cx="3048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ES" sz="2000" b="1">
                <a:solidFill>
                  <a:srgbClr val="F05A28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7005CBED-A655-C1FF-0344-B263E5EC6328}"/>
              </a:ext>
            </a:extLst>
          </p:cNvPr>
          <p:cNvSpPr/>
          <p:nvPr/>
        </p:nvSpPr>
        <p:spPr>
          <a:xfrm>
            <a:off x="9448800" y="1879600"/>
            <a:ext cx="1905000" cy="2857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CD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3" name="Rectángulo: esquinas redondeadas 32">
            <a:extLst>
              <a:ext uri="{FF2B5EF4-FFF2-40B4-BE49-F238E27FC236}">
                <a16:creationId xmlns:a16="http://schemas.microsoft.com/office/drawing/2014/main" id="{2B297248-CC22-C4A1-D8A0-3664E14D1E41}"/>
              </a:ext>
            </a:extLst>
          </p:cNvPr>
          <p:cNvSpPr/>
          <p:nvPr/>
        </p:nvSpPr>
        <p:spPr>
          <a:xfrm>
            <a:off x="9677400" y="2108200"/>
            <a:ext cx="533400" cy="533400"/>
          </a:xfrm>
          <a:prstGeom prst="roundRect">
            <a:avLst>
              <a:gd name="adj" fmla="val 30000"/>
            </a:avLst>
          </a:prstGeom>
          <a:solidFill>
            <a:srgbClr val="F05A28"/>
          </a:solidFill>
          <a:ln>
            <a:solidFill>
              <a:srgbClr val="F05A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43D35A95-41A0-633B-058C-9E8D05E28D4B}"/>
              </a:ext>
            </a:extLst>
          </p:cNvPr>
          <p:cNvSpPr txBox="1"/>
          <p:nvPr/>
        </p:nvSpPr>
        <p:spPr>
          <a:xfrm>
            <a:off x="9677400" y="2235200"/>
            <a:ext cx="5334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ES" sz="1500" b="1">
                <a:solidFill>
                  <a:srgbClr val="FFFFFF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35" name="CuadroTexto 34">
            <a:extLst>
              <a:ext uri="{FF2B5EF4-FFF2-40B4-BE49-F238E27FC236}">
                <a16:creationId xmlns:a16="http://schemas.microsoft.com/office/drawing/2014/main" id="{21E051EF-EB48-1D33-1774-2126A0180F15}"/>
              </a:ext>
            </a:extLst>
          </p:cNvPr>
          <p:cNvSpPr txBox="1"/>
          <p:nvPr/>
        </p:nvSpPr>
        <p:spPr>
          <a:xfrm>
            <a:off x="9677400" y="2870200"/>
            <a:ext cx="14732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600" b="1">
                <a:solidFill>
                  <a:srgbClr val="0F3038"/>
                </a:solidFill>
                <a:latin typeface="Aptos" panose="020B0004020202020204" pitchFamily="34" charset="0"/>
              </a:rPr>
              <a:t>Seguimiento</a:t>
            </a:r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438E8659-E0C7-E906-689B-DC3D65697917}"/>
              </a:ext>
            </a:extLst>
          </p:cNvPr>
          <p:cNvSpPr txBox="1"/>
          <p:nvPr/>
        </p:nvSpPr>
        <p:spPr>
          <a:xfrm>
            <a:off x="9677400" y="3403600"/>
            <a:ext cx="14732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100">
                <a:solidFill>
                  <a:srgbClr val="57696F"/>
                </a:solidFill>
                <a:latin typeface="Aptos" panose="020B0004020202020204" pitchFamily="34" charset="0"/>
              </a:rPr>
              <a:t>Citas, recordatorios y cierre medible</a:t>
            </a:r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746BBE82-DA1A-D08E-301F-F5055A82A563}"/>
              </a:ext>
            </a:extLst>
          </p:cNvPr>
          <p:cNvSpPr txBox="1"/>
          <p:nvPr/>
        </p:nvSpPr>
        <p:spPr>
          <a:xfrm>
            <a:off x="1651000" y="52832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ES" b="1">
                <a:solidFill>
                  <a:srgbClr val="0D515B"/>
                </a:solidFill>
                <a:latin typeface="Aptos" panose="020B0004020202020204" pitchFamily="34" charset="0"/>
              </a:rPr>
              <a:t>La persona conserva el control de la respuesta y de cada decisión.</a:t>
            </a:r>
          </a:p>
        </p:txBody>
      </p:sp>
    </p:spTree>
    <p:extLst>
      <p:ext uri="{BB962C8B-B14F-4D97-AF65-F5344CB8AC3E}">
        <p14:creationId xmlns:p14="http://schemas.microsoft.com/office/powerpoint/2010/main" val="25829213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BFC72E36-8ED9-AA8C-C893-0BD1ED9FA19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A"/>
          </a:solidFill>
          <a:ln>
            <a:solidFill>
              <a:srgbClr val="F8F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493FD7DF-79AA-3EE1-EF03-A9F712C1D5B0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F05A28"/>
          </a:solidFill>
          <a:ln>
            <a:solidFill>
              <a:srgbClr val="F05A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0695DB2-4410-1F91-DBFD-EDC4910ED606}"/>
              </a:ext>
            </a:extLst>
          </p:cNvPr>
          <p:cNvSpPr txBox="1"/>
          <p:nvPr/>
        </p:nvSpPr>
        <p:spPr>
          <a:xfrm>
            <a:off x="609600" y="355600"/>
            <a:ext cx="279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100" b="1">
                <a:solidFill>
                  <a:srgbClr val="F05A28"/>
                </a:solidFill>
                <a:latin typeface="Aptos" panose="020B0004020202020204" pitchFamily="34" charset="0"/>
              </a:rPr>
              <a:t>03 · PRODUCTO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C32F263E-8E0E-052F-7FCA-DB213022C05D}"/>
              </a:ext>
            </a:extLst>
          </p:cNvPr>
          <p:cNvSpPr txBox="1"/>
          <p:nvPr/>
        </p:nvSpPr>
        <p:spPr>
          <a:xfrm>
            <a:off x="609600" y="685800"/>
            <a:ext cx="109728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2700" b="1">
                <a:solidFill>
                  <a:srgbClr val="0F3038"/>
                </a:solidFill>
                <a:latin typeface="Aptos Display" panose="020B0004020202020204" pitchFamily="34" charset="0"/>
              </a:rPr>
              <a:t>Una cola operativa compartida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98943E7-CA82-9330-C76D-5D6CA29FDF95}"/>
              </a:ext>
            </a:extLst>
          </p:cNvPr>
          <p:cNvSpPr txBox="1"/>
          <p:nvPr/>
        </p:nvSpPr>
        <p:spPr>
          <a:xfrm>
            <a:off x="609600" y="6502400"/>
            <a:ext cx="381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900">
                <a:solidFill>
                  <a:srgbClr val="57696F"/>
                </a:solidFill>
                <a:latin typeface="Aptos" panose="020B0004020202020204" pitchFamily="34" charset="0"/>
              </a:rPr>
              <a:t>COPPE · Presentación comercial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6585D77-AA29-EE3F-F311-13CCC32A849C}"/>
              </a:ext>
            </a:extLst>
          </p:cNvPr>
          <p:cNvSpPr txBox="1"/>
          <p:nvPr/>
        </p:nvSpPr>
        <p:spPr>
          <a:xfrm>
            <a:off x="11303000" y="6502400"/>
            <a:ext cx="279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ES" sz="900">
                <a:solidFill>
                  <a:srgbClr val="57696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2AFB5FD3-EA43-9CAB-D6AF-8AF594FE7367}"/>
              </a:ext>
            </a:extLst>
          </p:cNvPr>
          <p:cNvSpPr/>
          <p:nvPr/>
        </p:nvSpPr>
        <p:spPr>
          <a:xfrm>
            <a:off x="546100" y="1511300"/>
            <a:ext cx="7620000" cy="4038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CD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B255E8AE-CC36-7F12-A9C8-E7148D55798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574800"/>
            <a:ext cx="7493000" cy="3911600"/>
          </a:xfrm>
          <a:prstGeom prst="rect">
            <a:avLst/>
          </a:prstGeom>
        </p:spPr>
      </p:pic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FEBBB8BF-7558-62D2-71DD-65342A6ED807}"/>
              </a:ext>
            </a:extLst>
          </p:cNvPr>
          <p:cNvSpPr/>
          <p:nvPr/>
        </p:nvSpPr>
        <p:spPr>
          <a:xfrm>
            <a:off x="8509000" y="1574800"/>
            <a:ext cx="3073400" cy="1193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CD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63DF681A-17E2-EF3A-2F6F-376752AF1DD7}"/>
              </a:ext>
            </a:extLst>
          </p:cNvPr>
          <p:cNvSpPr/>
          <p:nvPr/>
        </p:nvSpPr>
        <p:spPr>
          <a:xfrm>
            <a:off x="8509000" y="1574800"/>
            <a:ext cx="76200" cy="1193800"/>
          </a:xfrm>
          <a:prstGeom prst="rect">
            <a:avLst/>
          </a:prstGeom>
          <a:solidFill>
            <a:srgbClr val="F05A28"/>
          </a:solidFill>
          <a:ln>
            <a:solidFill>
              <a:srgbClr val="F05A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B8BFE873-931D-23ED-1E81-0AFC7D4841C8}"/>
              </a:ext>
            </a:extLst>
          </p:cNvPr>
          <p:cNvSpPr txBox="1"/>
          <p:nvPr/>
        </p:nvSpPr>
        <p:spPr>
          <a:xfrm>
            <a:off x="8763000" y="1803400"/>
            <a:ext cx="2641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600" b="1">
                <a:solidFill>
                  <a:srgbClr val="0F3038"/>
                </a:solidFill>
                <a:latin typeface="Aptos" panose="020B0004020202020204" pitchFamily="34" charset="0"/>
              </a:rPr>
              <a:t>Prioridades visibles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932E7B7-1860-DB92-037F-2EE9E21CCD70}"/>
              </a:ext>
            </a:extLst>
          </p:cNvPr>
          <p:cNvSpPr txBox="1"/>
          <p:nvPr/>
        </p:nvSpPr>
        <p:spPr>
          <a:xfrm>
            <a:off x="8763000" y="2235200"/>
            <a:ext cx="26416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150">
                <a:solidFill>
                  <a:srgbClr val="57696F"/>
                </a:solidFill>
                <a:latin typeface="Aptos" panose="020B0004020202020204" pitchFamily="34" charset="0"/>
              </a:rPr>
              <a:t>Nuevos, en seguimiento, esperando cliente y urgentes.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A2360827-4DE1-5150-30F3-40F9BDA5F364}"/>
              </a:ext>
            </a:extLst>
          </p:cNvPr>
          <p:cNvSpPr/>
          <p:nvPr/>
        </p:nvSpPr>
        <p:spPr>
          <a:xfrm>
            <a:off x="8509000" y="2946400"/>
            <a:ext cx="3073400" cy="1193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CD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4E257BB9-2FFD-50A6-086D-791661D587EE}"/>
              </a:ext>
            </a:extLst>
          </p:cNvPr>
          <p:cNvSpPr/>
          <p:nvPr/>
        </p:nvSpPr>
        <p:spPr>
          <a:xfrm>
            <a:off x="8509000" y="2946400"/>
            <a:ext cx="76200" cy="1193800"/>
          </a:xfrm>
          <a:prstGeom prst="rect">
            <a:avLst/>
          </a:prstGeom>
          <a:solidFill>
            <a:srgbClr val="0D515B"/>
          </a:solidFill>
          <a:ln>
            <a:solidFill>
              <a:srgbClr val="0D51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4BA52D7-48A3-3B76-60AE-CBC044091B34}"/>
              </a:ext>
            </a:extLst>
          </p:cNvPr>
          <p:cNvSpPr txBox="1"/>
          <p:nvPr/>
        </p:nvSpPr>
        <p:spPr>
          <a:xfrm>
            <a:off x="8763000" y="3175000"/>
            <a:ext cx="2641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600" b="1">
                <a:solidFill>
                  <a:srgbClr val="0F3038"/>
                </a:solidFill>
                <a:latin typeface="Aptos" panose="020B0004020202020204" pitchFamily="34" charset="0"/>
              </a:rPr>
              <a:t>Trabajo coordinado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79D4B1DA-6A07-D29F-6248-EBD57A04A7ED}"/>
              </a:ext>
            </a:extLst>
          </p:cNvPr>
          <p:cNvSpPr txBox="1"/>
          <p:nvPr/>
        </p:nvSpPr>
        <p:spPr>
          <a:xfrm>
            <a:off x="8763000" y="3606800"/>
            <a:ext cx="26416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150">
                <a:solidFill>
                  <a:srgbClr val="57696F"/>
                </a:solidFill>
                <a:latin typeface="Aptos" panose="020B0004020202020204" pitchFamily="34" charset="0"/>
              </a:rPr>
              <a:t>Casos, citas y seguimientos en el mismo panel.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B0290841-0E69-0906-12B2-C12862AE9DC2}"/>
              </a:ext>
            </a:extLst>
          </p:cNvPr>
          <p:cNvSpPr/>
          <p:nvPr/>
        </p:nvSpPr>
        <p:spPr>
          <a:xfrm>
            <a:off x="8509000" y="4318000"/>
            <a:ext cx="3073400" cy="1193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CD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476D20F2-1737-AABC-6231-A25589710D74}"/>
              </a:ext>
            </a:extLst>
          </p:cNvPr>
          <p:cNvSpPr/>
          <p:nvPr/>
        </p:nvSpPr>
        <p:spPr>
          <a:xfrm>
            <a:off x="8509000" y="4318000"/>
            <a:ext cx="76200" cy="1193800"/>
          </a:xfrm>
          <a:prstGeom prst="rect">
            <a:avLst/>
          </a:prstGeom>
          <a:solidFill>
            <a:srgbClr val="1B8466"/>
          </a:solidFill>
          <a:ln>
            <a:solidFill>
              <a:srgbClr val="1B84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AE2E954F-18D5-AE28-4A54-DA3CDEA98155}"/>
              </a:ext>
            </a:extLst>
          </p:cNvPr>
          <p:cNvSpPr txBox="1"/>
          <p:nvPr/>
        </p:nvSpPr>
        <p:spPr>
          <a:xfrm>
            <a:off x="8763000" y="4546600"/>
            <a:ext cx="2641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600" b="1">
                <a:solidFill>
                  <a:srgbClr val="0F3038"/>
                </a:solidFill>
                <a:latin typeface="Aptos" panose="020B0004020202020204" pitchFamily="34" charset="0"/>
              </a:rPr>
              <a:t>Visión por canal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ED36A616-C5F5-4B74-9DBC-0D65EC2EECB1}"/>
              </a:ext>
            </a:extLst>
          </p:cNvPr>
          <p:cNvSpPr txBox="1"/>
          <p:nvPr/>
        </p:nvSpPr>
        <p:spPr>
          <a:xfrm>
            <a:off x="8763000" y="4978400"/>
            <a:ext cx="26416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150">
                <a:solidFill>
                  <a:srgbClr val="57696F"/>
                </a:solidFill>
                <a:latin typeface="Aptos" panose="020B0004020202020204" pitchFamily="34" charset="0"/>
              </a:rPr>
              <a:t>Distribución y volumen sin revisar varias bandejas.</a:t>
            </a:r>
          </a:p>
        </p:txBody>
      </p:sp>
    </p:spTree>
    <p:extLst>
      <p:ext uri="{BB962C8B-B14F-4D97-AF65-F5344CB8AC3E}">
        <p14:creationId xmlns:p14="http://schemas.microsoft.com/office/powerpoint/2010/main" val="2659629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66977647-D989-9787-A377-A79E5DFC54E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A"/>
          </a:solidFill>
          <a:ln>
            <a:solidFill>
              <a:srgbClr val="F8F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0AB2DF2E-FE8F-ACE6-A66F-C4BBD64B9110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F05A28"/>
          </a:solidFill>
          <a:ln>
            <a:solidFill>
              <a:srgbClr val="F05A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FC6AF63F-EB42-8503-542D-EF20CAE3D1CD}"/>
              </a:ext>
            </a:extLst>
          </p:cNvPr>
          <p:cNvSpPr txBox="1"/>
          <p:nvPr/>
        </p:nvSpPr>
        <p:spPr>
          <a:xfrm>
            <a:off x="609600" y="355600"/>
            <a:ext cx="279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100" b="1">
                <a:solidFill>
                  <a:srgbClr val="F05A28"/>
                </a:solidFill>
                <a:latin typeface="Aptos" panose="020B0004020202020204" pitchFamily="34" charset="0"/>
              </a:rPr>
              <a:t>04 · ASISTENTE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16F4054-41AF-B9B3-1AFA-954888BA7F8F}"/>
              </a:ext>
            </a:extLst>
          </p:cNvPr>
          <p:cNvSpPr txBox="1"/>
          <p:nvPr/>
        </p:nvSpPr>
        <p:spPr>
          <a:xfrm>
            <a:off x="609600" y="685800"/>
            <a:ext cx="109728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2700" b="1">
                <a:solidFill>
                  <a:srgbClr val="0F3038"/>
                </a:solidFill>
                <a:latin typeface="Aptos Display" panose="020B0004020202020204" pitchFamily="34" charset="0"/>
              </a:rPr>
              <a:t>De un mensaje a una respuesta accionable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AA14D3A-78FC-2FEF-FEC9-523FBFCFAF41}"/>
              </a:ext>
            </a:extLst>
          </p:cNvPr>
          <p:cNvSpPr txBox="1"/>
          <p:nvPr/>
        </p:nvSpPr>
        <p:spPr>
          <a:xfrm>
            <a:off x="609600" y="6502400"/>
            <a:ext cx="381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900">
                <a:solidFill>
                  <a:srgbClr val="57696F"/>
                </a:solidFill>
                <a:latin typeface="Aptos" panose="020B0004020202020204" pitchFamily="34" charset="0"/>
              </a:rPr>
              <a:t>COPPE · Presentación comercial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A4B7022-642C-802D-DCB9-5E2D01328997}"/>
              </a:ext>
            </a:extLst>
          </p:cNvPr>
          <p:cNvSpPr txBox="1"/>
          <p:nvPr/>
        </p:nvSpPr>
        <p:spPr>
          <a:xfrm>
            <a:off x="11303000" y="6502400"/>
            <a:ext cx="279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ES" sz="900">
                <a:solidFill>
                  <a:srgbClr val="57696F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48F3FBC3-4187-DD5F-8678-98AE6E972A28}"/>
              </a:ext>
            </a:extLst>
          </p:cNvPr>
          <p:cNvSpPr/>
          <p:nvPr/>
        </p:nvSpPr>
        <p:spPr>
          <a:xfrm>
            <a:off x="546100" y="1511300"/>
            <a:ext cx="7620000" cy="4038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CCD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5816F45-918A-070C-C762-F57393FFACD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574800"/>
            <a:ext cx="7493000" cy="3911600"/>
          </a:xfrm>
          <a:prstGeom prst="rect">
            <a:avLst/>
          </a:prstGeom>
        </p:spPr>
      </p:pic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5DBC80B7-A91B-3D56-3148-A95D06208E0F}"/>
              </a:ext>
            </a:extLst>
          </p:cNvPr>
          <p:cNvSpPr/>
          <p:nvPr/>
        </p:nvSpPr>
        <p:spPr>
          <a:xfrm>
            <a:off x="8509000" y="1574800"/>
            <a:ext cx="3073400" cy="1193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CD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084D88D-9474-86CC-58BE-EAEA4EBC0DDC}"/>
              </a:ext>
            </a:extLst>
          </p:cNvPr>
          <p:cNvSpPr/>
          <p:nvPr/>
        </p:nvSpPr>
        <p:spPr>
          <a:xfrm>
            <a:off x="8509000" y="1574800"/>
            <a:ext cx="76200" cy="1193800"/>
          </a:xfrm>
          <a:prstGeom prst="rect">
            <a:avLst/>
          </a:prstGeom>
          <a:solidFill>
            <a:srgbClr val="F05A28"/>
          </a:solidFill>
          <a:ln>
            <a:solidFill>
              <a:srgbClr val="F05A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CAB9E60-9145-34F0-081D-51891B9A2A43}"/>
              </a:ext>
            </a:extLst>
          </p:cNvPr>
          <p:cNvSpPr txBox="1"/>
          <p:nvPr/>
        </p:nvSpPr>
        <p:spPr>
          <a:xfrm>
            <a:off x="8763000" y="1803400"/>
            <a:ext cx="2641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600" b="1">
                <a:solidFill>
                  <a:srgbClr val="0F3038"/>
                </a:solidFill>
                <a:latin typeface="Aptos" panose="020B0004020202020204" pitchFamily="34" charset="0"/>
              </a:rPr>
              <a:t>Comprensión rápida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2D66157C-087B-F2E9-726A-6931057D6CC8}"/>
              </a:ext>
            </a:extLst>
          </p:cNvPr>
          <p:cNvSpPr txBox="1"/>
          <p:nvPr/>
        </p:nvSpPr>
        <p:spPr>
          <a:xfrm>
            <a:off x="8763000" y="2235200"/>
            <a:ext cx="26416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150">
                <a:solidFill>
                  <a:srgbClr val="57696F"/>
                </a:solidFill>
                <a:latin typeface="Aptos" panose="020B0004020202020204" pitchFamily="34" charset="0"/>
              </a:rPr>
              <a:t>Resumen, intención, prioridad y categoría.</a:t>
            </a:r>
          </a:p>
        </p:txBody>
      </p:sp>
      <p:sp>
        <p:nvSpPr>
          <p:cNvPr id="15" name="Rectángulo: esquinas redondeadas 14">
            <a:extLst>
              <a:ext uri="{FF2B5EF4-FFF2-40B4-BE49-F238E27FC236}">
                <a16:creationId xmlns:a16="http://schemas.microsoft.com/office/drawing/2014/main" id="{EFECECA5-27DF-4FCE-8AC4-3C0B9672B7E6}"/>
              </a:ext>
            </a:extLst>
          </p:cNvPr>
          <p:cNvSpPr/>
          <p:nvPr/>
        </p:nvSpPr>
        <p:spPr>
          <a:xfrm>
            <a:off x="8509000" y="2946400"/>
            <a:ext cx="3073400" cy="1193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CD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DB1C6A64-BC09-099E-96F4-47CF5B98E29C}"/>
              </a:ext>
            </a:extLst>
          </p:cNvPr>
          <p:cNvSpPr/>
          <p:nvPr/>
        </p:nvSpPr>
        <p:spPr>
          <a:xfrm>
            <a:off x="8509000" y="2946400"/>
            <a:ext cx="76200" cy="1193800"/>
          </a:xfrm>
          <a:prstGeom prst="rect">
            <a:avLst/>
          </a:prstGeom>
          <a:solidFill>
            <a:srgbClr val="0D515B"/>
          </a:solidFill>
          <a:ln>
            <a:solidFill>
              <a:srgbClr val="0D51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819F0F32-13FD-30D2-DAEA-212A631F8DF8}"/>
              </a:ext>
            </a:extLst>
          </p:cNvPr>
          <p:cNvSpPr txBox="1"/>
          <p:nvPr/>
        </p:nvSpPr>
        <p:spPr>
          <a:xfrm>
            <a:off x="8763000" y="3175000"/>
            <a:ext cx="2641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600" b="1">
                <a:solidFill>
                  <a:srgbClr val="0F3038"/>
                </a:solidFill>
                <a:latin typeface="Aptos" panose="020B0004020202020204" pitchFamily="34" charset="0"/>
              </a:rPr>
              <a:t>Información faltante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B53AC525-FC59-D6DB-4FB0-315B71D6D011}"/>
              </a:ext>
            </a:extLst>
          </p:cNvPr>
          <p:cNvSpPr txBox="1"/>
          <p:nvPr/>
        </p:nvSpPr>
        <p:spPr>
          <a:xfrm>
            <a:off x="8763000" y="3606800"/>
            <a:ext cx="26416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150">
                <a:solidFill>
                  <a:srgbClr val="57696F"/>
                </a:solidFill>
                <a:latin typeface="Aptos" panose="020B0004020202020204" pitchFamily="34" charset="0"/>
              </a:rPr>
              <a:t>El equipo sabe qué necesita preguntar antes de actuar.</a:t>
            </a: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A6975CBC-D6E3-27C2-0301-B12E467C38DB}"/>
              </a:ext>
            </a:extLst>
          </p:cNvPr>
          <p:cNvSpPr/>
          <p:nvPr/>
        </p:nvSpPr>
        <p:spPr>
          <a:xfrm>
            <a:off x="8509000" y="4318000"/>
            <a:ext cx="3073400" cy="1193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CD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016B0774-3F09-6E3B-F17D-669412E56A22}"/>
              </a:ext>
            </a:extLst>
          </p:cNvPr>
          <p:cNvSpPr/>
          <p:nvPr/>
        </p:nvSpPr>
        <p:spPr>
          <a:xfrm>
            <a:off x="8509000" y="4318000"/>
            <a:ext cx="76200" cy="1193800"/>
          </a:xfrm>
          <a:prstGeom prst="rect">
            <a:avLst/>
          </a:prstGeom>
          <a:solidFill>
            <a:srgbClr val="1B8466"/>
          </a:solidFill>
          <a:ln>
            <a:solidFill>
              <a:srgbClr val="1B84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1696A7B5-0D15-27F7-A51E-77E89F3067BD}"/>
              </a:ext>
            </a:extLst>
          </p:cNvPr>
          <p:cNvSpPr txBox="1"/>
          <p:nvPr/>
        </p:nvSpPr>
        <p:spPr>
          <a:xfrm>
            <a:off x="8763000" y="4546600"/>
            <a:ext cx="2641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600" b="1">
                <a:solidFill>
                  <a:srgbClr val="0F3038"/>
                </a:solidFill>
                <a:latin typeface="Aptos" panose="020B0004020202020204" pitchFamily="34" charset="0"/>
              </a:rPr>
              <a:t>Borrador editable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A9FCB256-9131-F981-E921-0D78BD944B9A}"/>
              </a:ext>
            </a:extLst>
          </p:cNvPr>
          <p:cNvSpPr txBox="1"/>
          <p:nvPr/>
        </p:nvSpPr>
        <p:spPr>
          <a:xfrm>
            <a:off x="8763000" y="4978400"/>
            <a:ext cx="26416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150">
                <a:solidFill>
                  <a:srgbClr val="57696F"/>
                </a:solidFill>
                <a:latin typeface="Aptos" panose="020B0004020202020204" pitchFamily="34" charset="0"/>
              </a:rPr>
              <a:t>La IA prepara; la persona revisa, adapta y decide.</a:t>
            </a:r>
          </a:p>
        </p:txBody>
      </p:sp>
    </p:spTree>
    <p:extLst>
      <p:ext uri="{BB962C8B-B14F-4D97-AF65-F5344CB8AC3E}">
        <p14:creationId xmlns:p14="http://schemas.microsoft.com/office/powerpoint/2010/main" val="22427975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7D097084-0E09-B455-84F6-B0DAB12FEFF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A"/>
          </a:solidFill>
          <a:ln>
            <a:solidFill>
              <a:srgbClr val="F8F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9F9C9F4-5361-538A-916E-C47FCDB1FB61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F05A28"/>
          </a:solidFill>
          <a:ln>
            <a:solidFill>
              <a:srgbClr val="F05A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F87A736-8829-B568-6B12-C881C57718DB}"/>
              </a:ext>
            </a:extLst>
          </p:cNvPr>
          <p:cNvSpPr txBox="1"/>
          <p:nvPr/>
        </p:nvSpPr>
        <p:spPr>
          <a:xfrm>
            <a:off x="609600" y="355600"/>
            <a:ext cx="279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100" b="1">
                <a:solidFill>
                  <a:srgbClr val="F05A28"/>
                </a:solidFill>
                <a:latin typeface="Aptos" panose="020B0004020202020204" pitchFamily="34" charset="0"/>
              </a:rPr>
              <a:t>05 · CAPACIDADES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3451C96-4B0A-943D-F80F-30673F2AA87B}"/>
              </a:ext>
            </a:extLst>
          </p:cNvPr>
          <p:cNvSpPr txBox="1"/>
          <p:nvPr/>
        </p:nvSpPr>
        <p:spPr>
          <a:xfrm>
            <a:off x="609600" y="685800"/>
            <a:ext cx="109728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2700" b="1">
                <a:solidFill>
                  <a:srgbClr val="0F3038"/>
                </a:solidFill>
                <a:latin typeface="Aptos Display" panose="020B0004020202020204" pitchFamily="34" charset="0"/>
              </a:rPr>
              <a:t>Qué puede demostrar COPPE hoy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C221B25-CF53-8E95-C519-B8B4759D2551}"/>
              </a:ext>
            </a:extLst>
          </p:cNvPr>
          <p:cNvSpPr txBox="1"/>
          <p:nvPr/>
        </p:nvSpPr>
        <p:spPr>
          <a:xfrm>
            <a:off x="609600" y="6502400"/>
            <a:ext cx="381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900">
                <a:solidFill>
                  <a:srgbClr val="57696F"/>
                </a:solidFill>
                <a:latin typeface="Aptos" panose="020B0004020202020204" pitchFamily="34" charset="0"/>
              </a:rPr>
              <a:t>COPPE · Presentación comercial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383C408-D022-16CF-BD97-44CD286EDC49}"/>
              </a:ext>
            </a:extLst>
          </p:cNvPr>
          <p:cNvSpPr txBox="1"/>
          <p:nvPr/>
        </p:nvSpPr>
        <p:spPr>
          <a:xfrm>
            <a:off x="11303000" y="6502400"/>
            <a:ext cx="279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ES" sz="900">
                <a:solidFill>
                  <a:srgbClr val="57696F"/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042222E4-6414-5F28-8D87-3C0F5D3C1ADE}"/>
              </a:ext>
            </a:extLst>
          </p:cNvPr>
          <p:cNvSpPr/>
          <p:nvPr/>
        </p:nvSpPr>
        <p:spPr>
          <a:xfrm>
            <a:off x="609600" y="1676400"/>
            <a:ext cx="3378200" cy="149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CD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7BC05D51-4CF3-085D-6663-673B111F5EDC}"/>
              </a:ext>
            </a:extLst>
          </p:cNvPr>
          <p:cNvSpPr/>
          <p:nvPr/>
        </p:nvSpPr>
        <p:spPr>
          <a:xfrm>
            <a:off x="609600" y="1676400"/>
            <a:ext cx="76200" cy="1498600"/>
          </a:xfrm>
          <a:prstGeom prst="rect">
            <a:avLst/>
          </a:prstGeom>
          <a:solidFill>
            <a:srgbClr val="0D515B"/>
          </a:solidFill>
          <a:ln>
            <a:solidFill>
              <a:srgbClr val="0D51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A5F12E8-ADBF-4BC1-1668-7E860DB9495A}"/>
              </a:ext>
            </a:extLst>
          </p:cNvPr>
          <p:cNvSpPr txBox="1"/>
          <p:nvPr/>
        </p:nvSpPr>
        <p:spPr>
          <a:xfrm>
            <a:off x="863600" y="1905000"/>
            <a:ext cx="2946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600" b="1">
                <a:solidFill>
                  <a:srgbClr val="0F3038"/>
                </a:solidFill>
                <a:latin typeface="Aptos" panose="020B0004020202020204" pitchFamily="34" charset="0"/>
              </a:rPr>
              <a:t>Multiempresa y roles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5F998A0-7D25-7404-BB4A-63236EA97BF3}"/>
              </a:ext>
            </a:extLst>
          </p:cNvPr>
          <p:cNvSpPr txBox="1"/>
          <p:nvPr/>
        </p:nvSpPr>
        <p:spPr>
          <a:xfrm>
            <a:off x="863600" y="2336800"/>
            <a:ext cx="29464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150">
                <a:solidFill>
                  <a:srgbClr val="57696F"/>
                </a:solidFill>
                <a:latin typeface="Aptos" panose="020B0004020202020204" pitchFamily="34" charset="0"/>
              </a:rPr>
              <a:t>Aislamiento por empresa, propietario y miembros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81ADFD50-46F9-CA50-A284-3B2F086FF459}"/>
              </a:ext>
            </a:extLst>
          </p:cNvPr>
          <p:cNvSpPr/>
          <p:nvPr/>
        </p:nvSpPr>
        <p:spPr>
          <a:xfrm>
            <a:off x="4318000" y="1676400"/>
            <a:ext cx="3378200" cy="149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CD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60E89F77-6762-A466-0541-99C86F8C36A3}"/>
              </a:ext>
            </a:extLst>
          </p:cNvPr>
          <p:cNvSpPr/>
          <p:nvPr/>
        </p:nvSpPr>
        <p:spPr>
          <a:xfrm>
            <a:off x="4318000" y="1676400"/>
            <a:ext cx="76200" cy="1498600"/>
          </a:xfrm>
          <a:prstGeom prst="rect">
            <a:avLst/>
          </a:prstGeom>
          <a:solidFill>
            <a:srgbClr val="F05A28"/>
          </a:solidFill>
          <a:ln>
            <a:solidFill>
              <a:srgbClr val="F05A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762AE077-C349-2DD6-9897-D25B05596D2F}"/>
              </a:ext>
            </a:extLst>
          </p:cNvPr>
          <p:cNvSpPr txBox="1"/>
          <p:nvPr/>
        </p:nvSpPr>
        <p:spPr>
          <a:xfrm>
            <a:off x="4572000" y="1905000"/>
            <a:ext cx="2946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600" b="1">
                <a:solidFill>
                  <a:srgbClr val="0F3038"/>
                </a:solidFill>
                <a:latin typeface="Aptos" panose="020B0004020202020204" pitchFamily="34" charset="0"/>
              </a:rPr>
              <a:t>Clientes y casos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786F36E-008E-CDA9-C6BE-D94A35D9BCCF}"/>
              </a:ext>
            </a:extLst>
          </p:cNvPr>
          <p:cNvSpPr txBox="1"/>
          <p:nvPr/>
        </p:nvSpPr>
        <p:spPr>
          <a:xfrm>
            <a:off x="4572000" y="2336800"/>
            <a:ext cx="29464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150">
                <a:solidFill>
                  <a:srgbClr val="57696F"/>
                </a:solidFill>
                <a:latin typeface="Aptos" panose="020B0004020202020204" pitchFamily="34" charset="0"/>
              </a:rPr>
              <a:t>Historial, estados, filtros, prioridades y canales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56CE10E6-0200-00FF-F810-E85DADFACB2A}"/>
              </a:ext>
            </a:extLst>
          </p:cNvPr>
          <p:cNvSpPr/>
          <p:nvPr/>
        </p:nvSpPr>
        <p:spPr>
          <a:xfrm>
            <a:off x="8026400" y="1676400"/>
            <a:ext cx="3378200" cy="149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CD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B68D0408-E9D1-8EBE-FC99-70B353772DDD}"/>
              </a:ext>
            </a:extLst>
          </p:cNvPr>
          <p:cNvSpPr/>
          <p:nvPr/>
        </p:nvSpPr>
        <p:spPr>
          <a:xfrm>
            <a:off x="8026400" y="1676400"/>
            <a:ext cx="76200" cy="1498600"/>
          </a:xfrm>
          <a:prstGeom prst="rect">
            <a:avLst/>
          </a:prstGeom>
          <a:solidFill>
            <a:srgbClr val="0D515B"/>
          </a:solidFill>
          <a:ln>
            <a:solidFill>
              <a:srgbClr val="0D51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81B6520-1B01-52EF-DA7A-AF221E937FB1}"/>
              </a:ext>
            </a:extLst>
          </p:cNvPr>
          <p:cNvSpPr txBox="1"/>
          <p:nvPr/>
        </p:nvSpPr>
        <p:spPr>
          <a:xfrm>
            <a:off x="8280400" y="1905000"/>
            <a:ext cx="2946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600" b="1">
                <a:solidFill>
                  <a:srgbClr val="0F3038"/>
                </a:solidFill>
                <a:latin typeface="Aptos" panose="020B0004020202020204" pitchFamily="34" charset="0"/>
              </a:rPr>
              <a:t>Trabajo operativo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D2999C8-948C-BFF0-C891-3A356E6BDFEC}"/>
              </a:ext>
            </a:extLst>
          </p:cNvPr>
          <p:cNvSpPr txBox="1"/>
          <p:nvPr/>
        </p:nvSpPr>
        <p:spPr>
          <a:xfrm>
            <a:off x="8280400" y="2336800"/>
            <a:ext cx="29464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150">
                <a:solidFill>
                  <a:srgbClr val="57696F"/>
                </a:solidFill>
                <a:latin typeface="Aptos" panose="020B0004020202020204" pitchFamily="34" charset="0"/>
              </a:rPr>
              <a:t>Responsables, notas, citas y seguimientos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34B5D261-0329-0475-2C90-AFB0F40953CE}"/>
              </a:ext>
            </a:extLst>
          </p:cNvPr>
          <p:cNvSpPr/>
          <p:nvPr/>
        </p:nvSpPr>
        <p:spPr>
          <a:xfrm>
            <a:off x="609600" y="3505200"/>
            <a:ext cx="3378200" cy="149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CD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AE0695C0-A154-38E0-4697-A5BE6FDBBF63}"/>
              </a:ext>
            </a:extLst>
          </p:cNvPr>
          <p:cNvSpPr/>
          <p:nvPr/>
        </p:nvSpPr>
        <p:spPr>
          <a:xfrm>
            <a:off x="609600" y="3505200"/>
            <a:ext cx="76200" cy="1498600"/>
          </a:xfrm>
          <a:prstGeom prst="rect">
            <a:avLst/>
          </a:prstGeom>
          <a:solidFill>
            <a:srgbClr val="F05A28"/>
          </a:solidFill>
          <a:ln>
            <a:solidFill>
              <a:srgbClr val="F05A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3CED92DE-2309-C340-6FB0-9756901AB6E2}"/>
              </a:ext>
            </a:extLst>
          </p:cNvPr>
          <p:cNvSpPr txBox="1"/>
          <p:nvPr/>
        </p:nvSpPr>
        <p:spPr>
          <a:xfrm>
            <a:off x="863600" y="3733800"/>
            <a:ext cx="2946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600" b="1">
                <a:solidFill>
                  <a:srgbClr val="0F3038"/>
                </a:solidFill>
                <a:latin typeface="Aptos" panose="020B0004020202020204" pitchFamily="34" charset="0"/>
              </a:rPr>
              <a:t>Asistente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8CC30D5D-30B5-AE8D-50F3-C38969B00990}"/>
              </a:ext>
            </a:extLst>
          </p:cNvPr>
          <p:cNvSpPr txBox="1"/>
          <p:nvPr/>
        </p:nvSpPr>
        <p:spPr>
          <a:xfrm>
            <a:off x="863600" y="4165600"/>
            <a:ext cx="29464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150">
                <a:solidFill>
                  <a:srgbClr val="57696F"/>
                </a:solidFill>
                <a:latin typeface="Aptos" panose="020B0004020202020204" pitchFamily="34" charset="0"/>
              </a:rPr>
              <a:t>Motor local o OpenAI, con revisión humana</a:t>
            </a: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524997D7-20D0-CF47-70ED-C174B1F610BF}"/>
              </a:ext>
            </a:extLst>
          </p:cNvPr>
          <p:cNvSpPr/>
          <p:nvPr/>
        </p:nvSpPr>
        <p:spPr>
          <a:xfrm>
            <a:off x="4318000" y="3505200"/>
            <a:ext cx="3378200" cy="149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CD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AB35665E-13B1-2C24-1BC5-F93DD3C0C205}"/>
              </a:ext>
            </a:extLst>
          </p:cNvPr>
          <p:cNvSpPr/>
          <p:nvPr/>
        </p:nvSpPr>
        <p:spPr>
          <a:xfrm>
            <a:off x="4318000" y="3505200"/>
            <a:ext cx="76200" cy="1498600"/>
          </a:xfrm>
          <a:prstGeom prst="rect">
            <a:avLst/>
          </a:prstGeom>
          <a:solidFill>
            <a:srgbClr val="0D515B"/>
          </a:solidFill>
          <a:ln>
            <a:solidFill>
              <a:srgbClr val="0D51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034C9736-FAA7-DB1E-59D9-3C93C975F055}"/>
              </a:ext>
            </a:extLst>
          </p:cNvPr>
          <p:cNvSpPr txBox="1"/>
          <p:nvPr/>
        </p:nvSpPr>
        <p:spPr>
          <a:xfrm>
            <a:off x="4572000" y="3733800"/>
            <a:ext cx="2946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600" b="1">
                <a:solidFill>
                  <a:srgbClr val="0F3038"/>
                </a:solidFill>
                <a:latin typeface="Aptos" panose="020B0004020202020204" pitchFamily="34" charset="0"/>
              </a:rPr>
              <a:t>Canales web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BCEEB5F6-5626-8537-B768-FEBD70EAC1E7}"/>
              </a:ext>
            </a:extLst>
          </p:cNvPr>
          <p:cNvSpPr txBox="1"/>
          <p:nvPr/>
        </p:nvSpPr>
        <p:spPr>
          <a:xfrm>
            <a:off x="4572000" y="4165600"/>
            <a:ext cx="29464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150">
                <a:solidFill>
                  <a:srgbClr val="57696F"/>
                </a:solidFill>
                <a:latin typeface="Aptos" panose="020B0004020202020204" pitchFamily="34" charset="0"/>
              </a:rPr>
              <a:t>Formulario y chat públicos por empresa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A4F0E3B7-C740-A739-42F1-879D6113D93B}"/>
              </a:ext>
            </a:extLst>
          </p:cNvPr>
          <p:cNvSpPr/>
          <p:nvPr/>
        </p:nvSpPr>
        <p:spPr>
          <a:xfrm>
            <a:off x="8026400" y="3505200"/>
            <a:ext cx="3378200" cy="1498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CD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5FCEB407-EDEA-DC35-2091-706EEAE2EF3C}"/>
              </a:ext>
            </a:extLst>
          </p:cNvPr>
          <p:cNvSpPr/>
          <p:nvPr/>
        </p:nvSpPr>
        <p:spPr>
          <a:xfrm>
            <a:off x="8026400" y="3505200"/>
            <a:ext cx="76200" cy="1498600"/>
          </a:xfrm>
          <a:prstGeom prst="rect">
            <a:avLst/>
          </a:prstGeom>
          <a:solidFill>
            <a:srgbClr val="F05A28"/>
          </a:solidFill>
          <a:ln>
            <a:solidFill>
              <a:srgbClr val="F05A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34851D12-26B3-660D-8DF6-F2CE269E3919}"/>
              </a:ext>
            </a:extLst>
          </p:cNvPr>
          <p:cNvSpPr txBox="1"/>
          <p:nvPr/>
        </p:nvSpPr>
        <p:spPr>
          <a:xfrm>
            <a:off x="8280400" y="3733800"/>
            <a:ext cx="2946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600" b="1">
                <a:solidFill>
                  <a:srgbClr val="0F3038"/>
                </a:solidFill>
                <a:latin typeface="Aptos" panose="020B0004020202020204" pitchFamily="34" charset="0"/>
              </a:rPr>
              <a:t>Control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32FE183E-51F9-6E30-AAF3-5155CAB5843E}"/>
              </a:ext>
            </a:extLst>
          </p:cNvPr>
          <p:cNvSpPr txBox="1"/>
          <p:nvPr/>
        </p:nvSpPr>
        <p:spPr>
          <a:xfrm>
            <a:off x="8280400" y="4165600"/>
            <a:ext cx="29464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150">
                <a:solidFill>
                  <a:srgbClr val="57696F"/>
                </a:solidFill>
                <a:latin typeface="Aptos" panose="020B0004020202020204" pitchFamily="34" charset="0"/>
              </a:rPr>
              <a:t>MFA, auditoría, exportación y límites de API</a:t>
            </a:r>
          </a:p>
        </p:txBody>
      </p:sp>
      <p:sp>
        <p:nvSpPr>
          <p:cNvPr id="32" name="CuadroTexto 31">
            <a:extLst>
              <a:ext uri="{FF2B5EF4-FFF2-40B4-BE49-F238E27FC236}">
                <a16:creationId xmlns:a16="http://schemas.microsoft.com/office/drawing/2014/main" id="{51F13BA3-AC73-8180-3807-A820FE9FE44C}"/>
              </a:ext>
            </a:extLst>
          </p:cNvPr>
          <p:cNvSpPr txBox="1"/>
          <p:nvPr/>
        </p:nvSpPr>
        <p:spPr>
          <a:xfrm>
            <a:off x="1016000" y="5537200"/>
            <a:ext cx="1016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ES" sz="1300">
                <a:solidFill>
                  <a:srgbClr val="57696F"/>
                </a:solidFill>
                <a:latin typeface="Aptos" panose="020B0004020202020204" pitchFamily="34" charset="0"/>
              </a:rPr>
              <a:t>Email y WhatsApp se activan y validan durante el onboarding; no se prometen antes de comprobar proveedor, dominio y permisos.</a:t>
            </a:r>
          </a:p>
        </p:txBody>
      </p:sp>
    </p:spTree>
    <p:extLst>
      <p:ext uri="{BB962C8B-B14F-4D97-AF65-F5344CB8AC3E}">
        <p14:creationId xmlns:p14="http://schemas.microsoft.com/office/powerpoint/2010/main" val="19529356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FF76D8BE-32E5-300D-DB08-CEDEECE0726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A"/>
          </a:solidFill>
          <a:ln>
            <a:solidFill>
              <a:srgbClr val="F8F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6408AAC1-97DB-FA22-604C-565C1A28F8DB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F05A28"/>
          </a:solidFill>
          <a:ln>
            <a:solidFill>
              <a:srgbClr val="F05A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0B0200A-D765-F68E-B35D-231799203BD8}"/>
              </a:ext>
            </a:extLst>
          </p:cNvPr>
          <p:cNvSpPr txBox="1"/>
          <p:nvPr/>
        </p:nvSpPr>
        <p:spPr>
          <a:xfrm>
            <a:off x="609600" y="355600"/>
            <a:ext cx="279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100" b="1">
                <a:solidFill>
                  <a:srgbClr val="F05A28"/>
                </a:solidFill>
                <a:latin typeface="Aptos" panose="020B0004020202020204" pitchFamily="34" charset="0"/>
              </a:rPr>
              <a:t>06 · SEGURIDAD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B068508-EDBF-CF76-6CBF-1097F0A41C74}"/>
              </a:ext>
            </a:extLst>
          </p:cNvPr>
          <p:cNvSpPr txBox="1"/>
          <p:nvPr/>
        </p:nvSpPr>
        <p:spPr>
          <a:xfrm>
            <a:off x="609600" y="685800"/>
            <a:ext cx="109728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2700" b="1">
                <a:solidFill>
                  <a:srgbClr val="0F3038"/>
                </a:solidFill>
                <a:latin typeface="Aptos Display" panose="020B0004020202020204" pitchFamily="34" charset="0"/>
              </a:rPr>
              <a:t>Control técnico sin vender humo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57EF484-CE5F-70B4-3405-FAD924D417C6}"/>
              </a:ext>
            </a:extLst>
          </p:cNvPr>
          <p:cNvSpPr txBox="1"/>
          <p:nvPr/>
        </p:nvSpPr>
        <p:spPr>
          <a:xfrm>
            <a:off x="609600" y="6502400"/>
            <a:ext cx="381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900">
                <a:solidFill>
                  <a:srgbClr val="57696F"/>
                </a:solidFill>
                <a:latin typeface="Aptos" panose="020B0004020202020204" pitchFamily="34" charset="0"/>
              </a:rPr>
              <a:t>COPPE · Presentación comercial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A4D0D70-7793-7871-5A4A-C741D6B6DFC6}"/>
              </a:ext>
            </a:extLst>
          </p:cNvPr>
          <p:cNvSpPr txBox="1"/>
          <p:nvPr/>
        </p:nvSpPr>
        <p:spPr>
          <a:xfrm>
            <a:off x="11303000" y="6502400"/>
            <a:ext cx="279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ES" sz="900">
                <a:solidFill>
                  <a:srgbClr val="57696F"/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0B77D7F2-C653-AA5D-7E6C-E4494547CA1C}"/>
              </a:ext>
            </a:extLst>
          </p:cNvPr>
          <p:cNvSpPr/>
          <p:nvPr/>
        </p:nvSpPr>
        <p:spPr>
          <a:xfrm>
            <a:off x="609600" y="1651000"/>
            <a:ext cx="3378200" cy="1333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CD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2D4BFFDF-BEA3-9187-21B1-3AA8942B7E4E}"/>
              </a:ext>
            </a:extLst>
          </p:cNvPr>
          <p:cNvSpPr/>
          <p:nvPr/>
        </p:nvSpPr>
        <p:spPr>
          <a:xfrm>
            <a:off x="609600" y="1651000"/>
            <a:ext cx="76200" cy="1333500"/>
          </a:xfrm>
          <a:prstGeom prst="rect">
            <a:avLst/>
          </a:prstGeom>
          <a:solidFill>
            <a:srgbClr val="0D515B"/>
          </a:solidFill>
          <a:ln>
            <a:solidFill>
              <a:srgbClr val="0D51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F3884BFE-4619-F8FE-2189-08B625F6522C}"/>
              </a:ext>
            </a:extLst>
          </p:cNvPr>
          <p:cNvSpPr txBox="1"/>
          <p:nvPr/>
        </p:nvSpPr>
        <p:spPr>
          <a:xfrm>
            <a:off x="863600" y="1879600"/>
            <a:ext cx="2946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600" b="1">
                <a:solidFill>
                  <a:srgbClr val="0F3038"/>
                </a:solidFill>
                <a:latin typeface="Aptos" panose="020B0004020202020204" pitchFamily="34" charset="0"/>
              </a:rPr>
              <a:t>Aislamiento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468F51BA-5696-0AEE-61A9-B43507C1DE8F}"/>
              </a:ext>
            </a:extLst>
          </p:cNvPr>
          <p:cNvSpPr txBox="1"/>
          <p:nvPr/>
        </p:nvSpPr>
        <p:spPr>
          <a:xfrm>
            <a:off x="863600" y="2311400"/>
            <a:ext cx="29464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150">
                <a:solidFill>
                  <a:srgbClr val="57696F"/>
                </a:solidFill>
                <a:latin typeface="Aptos" panose="020B0004020202020204" pitchFamily="34" charset="0"/>
              </a:rPr>
              <a:t>RLS y comprobaciones explícitas de pertenencia.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BFE9711B-B415-563E-4FB6-F917F5F8D1AE}"/>
              </a:ext>
            </a:extLst>
          </p:cNvPr>
          <p:cNvSpPr/>
          <p:nvPr/>
        </p:nvSpPr>
        <p:spPr>
          <a:xfrm>
            <a:off x="4406900" y="1651000"/>
            <a:ext cx="3378200" cy="1333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CD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23298451-42A9-DD11-1BDE-CC52DC418CD7}"/>
              </a:ext>
            </a:extLst>
          </p:cNvPr>
          <p:cNvSpPr/>
          <p:nvPr/>
        </p:nvSpPr>
        <p:spPr>
          <a:xfrm>
            <a:off x="4406900" y="1651000"/>
            <a:ext cx="76200" cy="1333500"/>
          </a:xfrm>
          <a:prstGeom prst="rect">
            <a:avLst/>
          </a:prstGeom>
          <a:solidFill>
            <a:srgbClr val="F05A28"/>
          </a:solidFill>
          <a:ln>
            <a:solidFill>
              <a:srgbClr val="F05A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63EB3F8B-DBB5-AA3A-F5CB-D65615294016}"/>
              </a:ext>
            </a:extLst>
          </p:cNvPr>
          <p:cNvSpPr txBox="1"/>
          <p:nvPr/>
        </p:nvSpPr>
        <p:spPr>
          <a:xfrm>
            <a:off x="4660900" y="1879600"/>
            <a:ext cx="2946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600" b="1">
                <a:solidFill>
                  <a:srgbClr val="0F3038"/>
                </a:solidFill>
                <a:latin typeface="Aptos" panose="020B0004020202020204" pitchFamily="34" charset="0"/>
              </a:rPr>
              <a:t>Acceso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9CD589E8-2260-0E3F-CFF4-3526AF3EDD27}"/>
              </a:ext>
            </a:extLst>
          </p:cNvPr>
          <p:cNvSpPr txBox="1"/>
          <p:nvPr/>
        </p:nvSpPr>
        <p:spPr>
          <a:xfrm>
            <a:off x="4660900" y="2311400"/>
            <a:ext cx="29464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150">
                <a:solidFill>
                  <a:srgbClr val="57696F"/>
                </a:solidFill>
                <a:latin typeface="Aptos" panose="020B0004020202020204" pitchFamily="34" charset="0"/>
              </a:rPr>
              <a:t>Roles y MFA TOTP para proteger cuentas.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7F7A5FC1-6553-88B3-8E04-108D589D1556}"/>
              </a:ext>
            </a:extLst>
          </p:cNvPr>
          <p:cNvSpPr/>
          <p:nvPr/>
        </p:nvSpPr>
        <p:spPr>
          <a:xfrm>
            <a:off x="8204200" y="1651000"/>
            <a:ext cx="3378200" cy="1333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CD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18770D19-43B9-C014-73FE-05840097DF94}"/>
              </a:ext>
            </a:extLst>
          </p:cNvPr>
          <p:cNvSpPr/>
          <p:nvPr/>
        </p:nvSpPr>
        <p:spPr>
          <a:xfrm>
            <a:off x="8204200" y="1651000"/>
            <a:ext cx="76200" cy="1333500"/>
          </a:xfrm>
          <a:prstGeom prst="rect">
            <a:avLst/>
          </a:prstGeom>
          <a:solidFill>
            <a:srgbClr val="1B8466"/>
          </a:solidFill>
          <a:ln>
            <a:solidFill>
              <a:srgbClr val="1B84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209F6237-6E10-EF53-CF15-7EE8F2B824CE}"/>
              </a:ext>
            </a:extLst>
          </p:cNvPr>
          <p:cNvSpPr txBox="1"/>
          <p:nvPr/>
        </p:nvSpPr>
        <p:spPr>
          <a:xfrm>
            <a:off x="8458200" y="1879600"/>
            <a:ext cx="2946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600" b="1">
                <a:solidFill>
                  <a:srgbClr val="0F3038"/>
                </a:solidFill>
                <a:latin typeface="Aptos" panose="020B0004020202020204" pitchFamily="34" charset="0"/>
              </a:rPr>
              <a:t>Trazabilidad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08CAE54-C7FC-B547-E9AC-AD94436D533B}"/>
              </a:ext>
            </a:extLst>
          </p:cNvPr>
          <p:cNvSpPr txBox="1"/>
          <p:nvPr/>
        </p:nvSpPr>
        <p:spPr>
          <a:xfrm>
            <a:off x="8458200" y="2311400"/>
            <a:ext cx="29464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150">
                <a:solidFill>
                  <a:srgbClr val="57696F"/>
                </a:solidFill>
                <a:latin typeface="Aptos" panose="020B0004020202020204" pitchFamily="34" charset="0"/>
              </a:rPr>
              <a:t>Auditoría de acciones y autoría operativa.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C88EAFDA-21F6-A258-098D-5346901FF4F8}"/>
              </a:ext>
            </a:extLst>
          </p:cNvPr>
          <p:cNvSpPr/>
          <p:nvPr/>
        </p:nvSpPr>
        <p:spPr>
          <a:xfrm>
            <a:off x="609600" y="3302000"/>
            <a:ext cx="3378200" cy="1333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CD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782E446-FD2C-541A-27B6-698D979A5EF9}"/>
              </a:ext>
            </a:extLst>
          </p:cNvPr>
          <p:cNvSpPr/>
          <p:nvPr/>
        </p:nvSpPr>
        <p:spPr>
          <a:xfrm>
            <a:off x="609600" y="3302000"/>
            <a:ext cx="76200" cy="1333500"/>
          </a:xfrm>
          <a:prstGeom prst="rect">
            <a:avLst/>
          </a:prstGeom>
          <a:solidFill>
            <a:srgbClr val="1B8466"/>
          </a:solidFill>
          <a:ln>
            <a:solidFill>
              <a:srgbClr val="1B84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1FFAC778-43C7-9275-D2D1-2FFF56D8219C}"/>
              </a:ext>
            </a:extLst>
          </p:cNvPr>
          <p:cNvSpPr txBox="1"/>
          <p:nvPr/>
        </p:nvSpPr>
        <p:spPr>
          <a:xfrm>
            <a:off x="863600" y="3530600"/>
            <a:ext cx="2946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600" b="1">
                <a:solidFill>
                  <a:srgbClr val="0F3038"/>
                </a:solidFill>
                <a:latin typeface="Aptos" panose="020B0004020202020204" pitchFamily="34" charset="0"/>
              </a:rPr>
              <a:t>Portabilidad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731C2E73-B8AA-9DFF-320D-55D08DE4D733}"/>
              </a:ext>
            </a:extLst>
          </p:cNvPr>
          <p:cNvSpPr txBox="1"/>
          <p:nvPr/>
        </p:nvSpPr>
        <p:spPr>
          <a:xfrm>
            <a:off x="863600" y="3962400"/>
            <a:ext cx="29464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150">
                <a:solidFill>
                  <a:srgbClr val="57696F"/>
                </a:solidFill>
                <a:latin typeface="Aptos" panose="020B0004020202020204" pitchFamily="34" charset="0"/>
              </a:rPr>
              <a:t>Exportación por empresa y offboarding administrado.</a:t>
            </a: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C9224650-A8B0-4E07-BF94-5DA1CD0C2187}"/>
              </a:ext>
            </a:extLst>
          </p:cNvPr>
          <p:cNvSpPr/>
          <p:nvPr/>
        </p:nvSpPr>
        <p:spPr>
          <a:xfrm>
            <a:off x="4406900" y="3302000"/>
            <a:ext cx="3378200" cy="1333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CD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23811311-6795-3516-742B-CBF2C0B5AA11}"/>
              </a:ext>
            </a:extLst>
          </p:cNvPr>
          <p:cNvSpPr/>
          <p:nvPr/>
        </p:nvSpPr>
        <p:spPr>
          <a:xfrm>
            <a:off x="4406900" y="3302000"/>
            <a:ext cx="76200" cy="1333500"/>
          </a:xfrm>
          <a:prstGeom prst="rect">
            <a:avLst/>
          </a:prstGeom>
          <a:solidFill>
            <a:srgbClr val="0D515B"/>
          </a:solidFill>
          <a:ln>
            <a:solidFill>
              <a:srgbClr val="0D51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22054E7A-376D-32A2-493C-2627614C48A7}"/>
              </a:ext>
            </a:extLst>
          </p:cNvPr>
          <p:cNvSpPr txBox="1"/>
          <p:nvPr/>
        </p:nvSpPr>
        <p:spPr>
          <a:xfrm>
            <a:off x="4660900" y="3530600"/>
            <a:ext cx="2946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600" b="1">
                <a:solidFill>
                  <a:srgbClr val="0F3038"/>
                </a:solidFill>
                <a:latin typeface="Aptos" panose="020B0004020202020204" pitchFamily="34" charset="0"/>
              </a:rPr>
              <a:t>APIs críticas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B96AA9EB-B3D4-2EA4-1246-6AFAFD35F1A9}"/>
              </a:ext>
            </a:extLst>
          </p:cNvPr>
          <p:cNvSpPr txBox="1"/>
          <p:nvPr/>
        </p:nvSpPr>
        <p:spPr>
          <a:xfrm>
            <a:off x="4660900" y="3962400"/>
            <a:ext cx="29464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150">
                <a:solidFill>
                  <a:srgbClr val="57696F"/>
                </a:solidFill>
                <a:latin typeface="Aptos" panose="020B0004020202020204" pitchFamily="34" charset="0"/>
              </a:rPr>
              <a:t>Rate limits, firmas, idempotencia y conciliación.</a:t>
            </a:r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DABC88C9-FDCD-0505-A2ED-D59421A6C1B9}"/>
              </a:ext>
            </a:extLst>
          </p:cNvPr>
          <p:cNvSpPr/>
          <p:nvPr/>
        </p:nvSpPr>
        <p:spPr>
          <a:xfrm>
            <a:off x="8204200" y="3302000"/>
            <a:ext cx="3378200" cy="13335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CD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BEA5C208-6C42-5D00-EBC0-9B79B2355DA1}"/>
              </a:ext>
            </a:extLst>
          </p:cNvPr>
          <p:cNvSpPr/>
          <p:nvPr/>
        </p:nvSpPr>
        <p:spPr>
          <a:xfrm>
            <a:off x="8204200" y="3302000"/>
            <a:ext cx="76200" cy="1333500"/>
          </a:xfrm>
          <a:prstGeom prst="rect">
            <a:avLst/>
          </a:prstGeom>
          <a:solidFill>
            <a:srgbClr val="F05A28"/>
          </a:solidFill>
          <a:ln>
            <a:solidFill>
              <a:srgbClr val="F05A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487C6C82-E1A8-AD01-407A-68CA66CF000F}"/>
              </a:ext>
            </a:extLst>
          </p:cNvPr>
          <p:cNvSpPr txBox="1"/>
          <p:nvPr/>
        </p:nvSpPr>
        <p:spPr>
          <a:xfrm>
            <a:off x="8458200" y="3530600"/>
            <a:ext cx="2946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600" b="1">
                <a:solidFill>
                  <a:srgbClr val="0F3038"/>
                </a:solidFill>
                <a:latin typeface="Aptos" panose="020B0004020202020204" pitchFamily="34" charset="0"/>
              </a:rPr>
              <a:t>Producción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0250811C-1FF2-1C0C-0918-F13972EF8C4B}"/>
              </a:ext>
            </a:extLst>
          </p:cNvPr>
          <p:cNvSpPr txBox="1"/>
          <p:nvPr/>
        </p:nvSpPr>
        <p:spPr>
          <a:xfrm>
            <a:off x="8458200" y="3962400"/>
            <a:ext cx="29464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150">
                <a:solidFill>
                  <a:srgbClr val="57696F"/>
                </a:solidFill>
                <a:latin typeface="Aptos" panose="020B0004020202020204" pitchFamily="34" charset="0"/>
              </a:rPr>
              <a:t>Copias, monitorización y contratos antes de datos reales.</a:t>
            </a:r>
          </a:p>
        </p:txBody>
      </p:sp>
      <p:sp>
        <p:nvSpPr>
          <p:cNvPr id="32" name="Rectángulo: esquinas redondeadas 31">
            <a:extLst>
              <a:ext uri="{FF2B5EF4-FFF2-40B4-BE49-F238E27FC236}">
                <a16:creationId xmlns:a16="http://schemas.microsoft.com/office/drawing/2014/main" id="{EF19FDD1-900E-D2DE-C3E5-35332E014CD6}"/>
              </a:ext>
            </a:extLst>
          </p:cNvPr>
          <p:cNvSpPr/>
          <p:nvPr/>
        </p:nvSpPr>
        <p:spPr>
          <a:xfrm>
            <a:off x="1422400" y="5181600"/>
            <a:ext cx="9347200" cy="736600"/>
          </a:xfrm>
          <a:prstGeom prst="roundRect">
            <a:avLst>
              <a:gd name="adj" fmla="val 12000"/>
            </a:avLst>
          </a:prstGeom>
          <a:solidFill>
            <a:srgbClr val="E9F6F7"/>
          </a:solidFill>
          <a:ln>
            <a:solidFill>
              <a:srgbClr val="CCD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AB5A6AF2-0CE3-C1EE-4D10-BED0BF1B4A63}"/>
              </a:ext>
            </a:extLst>
          </p:cNvPr>
          <p:cNvSpPr txBox="1"/>
          <p:nvPr/>
        </p:nvSpPr>
        <p:spPr>
          <a:xfrm>
            <a:off x="1778000" y="5410200"/>
            <a:ext cx="8636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ES" sz="1500" b="1">
                <a:solidFill>
                  <a:srgbClr val="0D515B"/>
                </a:solidFill>
                <a:latin typeface="Aptos" panose="020B0004020202020204" pitchFamily="34" charset="0"/>
              </a:rPr>
              <a:t>Sin certificaciones inventadas: ISO, SOC 2 y SLA solo se declaran cuando existan.</a:t>
            </a:r>
          </a:p>
        </p:txBody>
      </p:sp>
    </p:spTree>
    <p:extLst>
      <p:ext uri="{BB962C8B-B14F-4D97-AF65-F5344CB8AC3E}">
        <p14:creationId xmlns:p14="http://schemas.microsoft.com/office/powerpoint/2010/main" val="40713424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887EDF5-3571-FC62-BB63-8C3D518C86B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A"/>
          </a:solidFill>
          <a:ln>
            <a:solidFill>
              <a:srgbClr val="F8F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AC9E9290-BA87-C870-C17D-95EFDF7DB139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F05A28"/>
          </a:solidFill>
          <a:ln>
            <a:solidFill>
              <a:srgbClr val="F05A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2E989CC-AA45-839F-55BC-838094CE68C3}"/>
              </a:ext>
            </a:extLst>
          </p:cNvPr>
          <p:cNvSpPr txBox="1"/>
          <p:nvPr/>
        </p:nvSpPr>
        <p:spPr>
          <a:xfrm>
            <a:off x="609600" y="355600"/>
            <a:ext cx="279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100" b="1">
                <a:solidFill>
                  <a:srgbClr val="F05A28"/>
                </a:solidFill>
                <a:latin typeface="Aptos" panose="020B0004020202020204" pitchFamily="34" charset="0"/>
              </a:rPr>
              <a:t>07 · PILOTO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A997322C-DEE0-0369-6797-E3DD6AB081CB}"/>
              </a:ext>
            </a:extLst>
          </p:cNvPr>
          <p:cNvSpPr txBox="1"/>
          <p:nvPr/>
        </p:nvSpPr>
        <p:spPr>
          <a:xfrm>
            <a:off x="609600" y="685800"/>
            <a:ext cx="109728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2700" b="1">
                <a:solidFill>
                  <a:srgbClr val="0F3038"/>
                </a:solidFill>
                <a:latin typeface="Aptos Display" panose="020B0004020202020204" pitchFamily="34" charset="0"/>
              </a:rPr>
              <a:t>Una prueba pagada, acotada y medible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BB94509-0047-32B3-FFFC-1E0354AA1584}"/>
              </a:ext>
            </a:extLst>
          </p:cNvPr>
          <p:cNvSpPr txBox="1"/>
          <p:nvPr/>
        </p:nvSpPr>
        <p:spPr>
          <a:xfrm>
            <a:off x="609600" y="6502400"/>
            <a:ext cx="381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900">
                <a:solidFill>
                  <a:srgbClr val="57696F"/>
                </a:solidFill>
                <a:latin typeface="Aptos" panose="020B0004020202020204" pitchFamily="34" charset="0"/>
              </a:rPr>
              <a:t>COPPE · Presentación comercial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2FAEA0E-8AC3-40C3-2B82-818D3FC7449D}"/>
              </a:ext>
            </a:extLst>
          </p:cNvPr>
          <p:cNvSpPr txBox="1"/>
          <p:nvPr/>
        </p:nvSpPr>
        <p:spPr>
          <a:xfrm>
            <a:off x="11303000" y="6502400"/>
            <a:ext cx="279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ES" sz="900">
                <a:solidFill>
                  <a:srgbClr val="57696F"/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1C14DCB7-3535-E3FE-AF23-39F035542407}"/>
              </a:ext>
            </a:extLst>
          </p:cNvPr>
          <p:cNvSpPr/>
          <p:nvPr/>
        </p:nvSpPr>
        <p:spPr>
          <a:xfrm>
            <a:off x="609600" y="1625600"/>
            <a:ext cx="4191000" cy="3911600"/>
          </a:xfrm>
          <a:prstGeom prst="roundRect">
            <a:avLst>
              <a:gd name="adj" fmla="val 12000"/>
            </a:avLst>
          </a:prstGeom>
          <a:solidFill>
            <a:srgbClr val="0F3038"/>
          </a:solidFill>
          <a:ln>
            <a:solidFill>
              <a:srgbClr val="0F30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7DBB09C-259A-CE75-4422-4AFFA43BA15A}"/>
              </a:ext>
            </a:extLst>
          </p:cNvPr>
          <p:cNvSpPr txBox="1"/>
          <p:nvPr/>
        </p:nvSpPr>
        <p:spPr>
          <a:xfrm>
            <a:off x="1041400" y="2006600"/>
            <a:ext cx="3302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ES" sz="3400" b="1">
                <a:solidFill>
                  <a:srgbClr val="FFFFFF"/>
                </a:solidFill>
                <a:latin typeface="Aptos Display" panose="020B0004020202020204" pitchFamily="34" charset="0"/>
              </a:rPr>
              <a:t>30 días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4497E64-3A70-14E2-504B-BFA26BE44389}"/>
              </a:ext>
            </a:extLst>
          </p:cNvPr>
          <p:cNvSpPr txBox="1"/>
          <p:nvPr/>
        </p:nvSpPr>
        <p:spPr>
          <a:xfrm>
            <a:off x="1041400" y="2895600"/>
            <a:ext cx="3302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ES" sz="2800" b="1">
                <a:solidFill>
                  <a:srgbClr val="F05A28"/>
                </a:solidFill>
                <a:latin typeface="Aptos Display" panose="020B0004020202020204" pitchFamily="34" charset="0"/>
              </a:rPr>
              <a:t>1.500 € + IVA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B96DEFB-1F39-BE01-5D7C-C09399EC8185}"/>
              </a:ext>
            </a:extLst>
          </p:cNvPr>
          <p:cNvSpPr txBox="1"/>
          <p:nvPr/>
        </p:nvSpPr>
        <p:spPr>
          <a:xfrm>
            <a:off x="1143000" y="3886200"/>
            <a:ext cx="30988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ES" sz="1400">
                <a:solidFill>
                  <a:srgbClr val="CDE2E5"/>
                </a:solidFill>
                <a:latin typeface="Aptos" panose="020B0004020202020204" pitchFamily="34" charset="0"/>
              </a:rPr>
              <a:t>Se imputa al onboarding si el piloto se convierte en contrato anual.</a:t>
            </a:r>
          </a:p>
        </p:txBody>
      </p:sp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080F1DD6-029E-2345-EC7F-49F05B31C36C}"/>
              </a:ext>
            </a:extLst>
          </p:cNvPr>
          <p:cNvSpPr/>
          <p:nvPr/>
        </p:nvSpPr>
        <p:spPr>
          <a:xfrm>
            <a:off x="5283200" y="1625600"/>
            <a:ext cx="2895600" cy="1752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CD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681A997-9D30-9DD2-D7C2-F070B0A51340}"/>
              </a:ext>
            </a:extLst>
          </p:cNvPr>
          <p:cNvSpPr/>
          <p:nvPr/>
        </p:nvSpPr>
        <p:spPr>
          <a:xfrm>
            <a:off x="5283200" y="1625600"/>
            <a:ext cx="76200" cy="1752600"/>
          </a:xfrm>
          <a:prstGeom prst="rect">
            <a:avLst/>
          </a:prstGeom>
          <a:solidFill>
            <a:srgbClr val="0D515B"/>
          </a:solidFill>
          <a:ln>
            <a:solidFill>
              <a:srgbClr val="0D51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9B2B2BFA-0D22-B38D-2B57-EEF379AA78BE}"/>
              </a:ext>
            </a:extLst>
          </p:cNvPr>
          <p:cNvSpPr txBox="1"/>
          <p:nvPr/>
        </p:nvSpPr>
        <p:spPr>
          <a:xfrm>
            <a:off x="5537200" y="1854200"/>
            <a:ext cx="2463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600" b="1">
                <a:solidFill>
                  <a:srgbClr val="0F3038"/>
                </a:solidFill>
                <a:latin typeface="Aptos" panose="020B0004020202020204" pitchFamily="34" charset="0"/>
              </a:rPr>
              <a:t>Alcance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172CB2C1-70C0-2EC1-672F-D7ED5C3D929B}"/>
              </a:ext>
            </a:extLst>
          </p:cNvPr>
          <p:cNvSpPr txBox="1"/>
          <p:nvPr/>
        </p:nvSpPr>
        <p:spPr>
          <a:xfrm>
            <a:off x="5537200" y="2286000"/>
            <a:ext cx="24638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150">
                <a:solidFill>
                  <a:srgbClr val="57696F"/>
                </a:solidFill>
                <a:latin typeface="Aptos" panose="020B0004020202020204" pitchFamily="34" charset="0"/>
              </a:rPr>
              <a:t>Un equipo · hasta 10 usuarios · hasta 1.000 casos.</a:t>
            </a:r>
          </a:p>
        </p:txBody>
      </p: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3FC7872C-30C9-BB34-1CB9-3742C6AC73FB}"/>
              </a:ext>
            </a:extLst>
          </p:cNvPr>
          <p:cNvSpPr/>
          <p:nvPr/>
        </p:nvSpPr>
        <p:spPr>
          <a:xfrm>
            <a:off x="8559800" y="1625600"/>
            <a:ext cx="3022600" cy="1752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CD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3028AAF-63EC-00FB-8FEF-C2DD42FCD031}"/>
              </a:ext>
            </a:extLst>
          </p:cNvPr>
          <p:cNvSpPr/>
          <p:nvPr/>
        </p:nvSpPr>
        <p:spPr>
          <a:xfrm>
            <a:off x="8559800" y="1625600"/>
            <a:ext cx="76200" cy="1752600"/>
          </a:xfrm>
          <a:prstGeom prst="rect">
            <a:avLst/>
          </a:prstGeom>
          <a:solidFill>
            <a:srgbClr val="1B8466"/>
          </a:solidFill>
          <a:ln>
            <a:solidFill>
              <a:srgbClr val="1B846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A6A3C39B-92DA-55C6-A19A-E3452DAD52A8}"/>
              </a:ext>
            </a:extLst>
          </p:cNvPr>
          <p:cNvSpPr txBox="1"/>
          <p:nvPr/>
        </p:nvSpPr>
        <p:spPr>
          <a:xfrm>
            <a:off x="8813800" y="1854200"/>
            <a:ext cx="2590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600" b="1">
                <a:solidFill>
                  <a:srgbClr val="0F3038"/>
                </a:solidFill>
                <a:latin typeface="Aptos" panose="020B0004020202020204" pitchFamily="34" charset="0"/>
              </a:rPr>
              <a:t>Incluye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EC072613-E41B-1536-CBEC-F60DBC5DFC35}"/>
              </a:ext>
            </a:extLst>
          </p:cNvPr>
          <p:cNvSpPr txBox="1"/>
          <p:nvPr/>
        </p:nvSpPr>
        <p:spPr>
          <a:xfrm>
            <a:off x="8813800" y="2286000"/>
            <a:ext cx="25908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150">
                <a:solidFill>
                  <a:srgbClr val="57696F"/>
                </a:solidFill>
                <a:latin typeface="Aptos" panose="020B0004020202020204" pitchFamily="34" charset="0"/>
              </a:rPr>
              <a:t>Configuración, formación, revisión semanal e informe final.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3530B0D9-921A-23AD-9933-EE56EE8F72D4}"/>
              </a:ext>
            </a:extLst>
          </p:cNvPr>
          <p:cNvSpPr/>
          <p:nvPr/>
        </p:nvSpPr>
        <p:spPr>
          <a:xfrm>
            <a:off x="5283200" y="3708400"/>
            <a:ext cx="28956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CD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8C8295ED-B461-4F16-F76E-C6FCEAA19BA6}"/>
              </a:ext>
            </a:extLst>
          </p:cNvPr>
          <p:cNvSpPr/>
          <p:nvPr/>
        </p:nvSpPr>
        <p:spPr>
          <a:xfrm>
            <a:off x="5283200" y="3708400"/>
            <a:ext cx="76200" cy="1828800"/>
          </a:xfrm>
          <a:prstGeom prst="rect">
            <a:avLst/>
          </a:prstGeom>
          <a:solidFill>
            <a:srgbClr val="F05A28"/>
          </a:solidFill>
          <a:ln>
            <a:solidFill>
              <a:srgbClr val="F05A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31B3E859-9E5B-E900-0582-F42D9C003437}"/>
              </a:ext>
            </a:extLst>
          </p:cNvPr>
          <p:cNvSpPr txBox="1"/>
          <p:nvPr/>
        </p:nvSpPr>
        <p:spPr>
          <a:xfrm>
            <a:off x="5537200" y="3937000"/>
            <a:ext cx="2463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600" b="1">
                <a:solidFill>
                  <a:srgbClr val="0F3038"/>
                </a:solidFill>
                <a:latin typeface="Aptos" panose="020B0004020202020204" pitchFamily="34" charset="0"/>
              </a:rPr>
              <a:t>Medimos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5275D644-FB6C-8C9B-B709-B7D610E1E740}"/>
              </a:ext>
            </a:extLst>
          </p:cNvPr>
          <p:cNvSpPr txBox="1"/>
          <p:nvPr/>
        </p:nvSpPr>
        <p:spPr>
          <a:xfrm>
            <a:off x="5537200" y="4368800"/>
            <a:ext cx="24638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150">
                <a:solidFill>
                  <a:srgbClr val="57696F"/>
                </a:solidFill>
                <a:latin typeface="Aptos" panose="020B0004020202020204" pitchFamily="34" charset="0"/>
              </a:rPr>
              <a:t>Primera revisión, casos sin responsable, vencidos y resolución.</a:t>
            </a:r>
          </a:p>
        </p:txBody>
      </p:sp>
      <p:sp>
        <p:nvSpPr>
          <p:cNvPr id="24" name="Rectángulo: esquinas redondeadas 23">
            <a:extLst>
              <a:ext uri="{FF2B5EF4-FFF2-40B4-BE49-F238E27FC236}">
                <a16:creationId xmlns:a16="http://schemas.microsoft.com/office/drawing/2014/main" id="{45E39399-E157-57EB-60AE-0103FBDA51BF}"/>
              </a:ext>
            </a:extLst>
          </p:cNvPr>
          <p:cNvSpPr/>
          <p:nvPr/>
        </p:nvSpPr>
        <p:spPr>
          <a:xfrm>
            <a:off x="8559800" y="3708400"/>
            <a:ext cx="302260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CCD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8788A3CC-705E-4164-0B15-308A9CE0DF88}"/>
              </a:ext>
            </a:extLst>
          </p:cNvPr>
          <p:cNvSpPr/>
          <p:nvPr/>
        </p:nvSpPr>
        <p:spPr>
          <a:xfrm>
            <a:off x="8559800" y="3708400"/>
            <a:ext cx="76200" cy="1828800"/>
          </a:xfrm>
          <a:prstGeom prst="rect">
            <a:avLst/>
          </a:prstGeom>
          <a:solidFill>
            <a:srgbClr val="0D515B"/>
          </a:solidFill>
          <a:ln>
            <a:solidFill>
              <a:srgbClr val="0D51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6A56E4BB-1DED-365E-3015-39A993410823}"/>
              </a:ext>
            </a:extLst>
          </p:cNvPr>
          <p:cNvSpPr txBox="1"/>
          <p:nvPr/>
        </p:nvSpPr>
        <p:spPr>
          <a:xfrm>
            <a:off x="8813800" y="3937000"/>
            <a:ext cx="25908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600" b="1">
                <a:solidFill>
                  <a:srgbClr val="0F3038"/>
                </a:solidFill>
                <a:latin typeface="Aptos" panose="020B0004020202020204" pitchFamily="34" charset="0"/>
              </a:rPr>
              <a:t>Después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38D65314-1C80-531A-A762-6A9C378AA769}"/>
              </a:ext>
            </a:extLst>
          </p:cNvPr>
          <p:cNvSpPr txBox="1"/>
          <p:nvPr/>
        </p:nvSpPr>
        <p:spPr>
          <a:xfrm>
            <a:off x="8813800" y="4368800"/>
            <a:ext cx="2590800" cy="3539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150">
                <a:solidFill>
                  <a:srgbClr val="57696F"/>
                </a:solidFill>
                <a:latin typeface="Aptos" panose="020B0004020202020204" pitchFamily="34" charset="0"/>
              </a:rPr>
              <a:t>Professional: 399 € + IVA/mes, sujeto a contrato final.</a:t>
            </a:r>
          </a:p>
        </p:txBody>
      </p:sp>
    </p:spTree>
    <p:extLst>
      <p:ext uri="{BB962C8B-B14F-4D97-AF65-F5344CB8AC3E}">
        <p14:creationId xmlns:p14="http://schemas.microsoft.com/office/powerpoint/2010/main" val="18596655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E7B46526-61B2-10EB-9D75-B2073BEA9C1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A"/>
          </a:solidFill>
          <a:ln>
            <a:solidFill>
              <a:srgbClr val="F8FAF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1E76DF4B-F239-FEF8-03A4-60FB0BFC067E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F05A28"/>
          </a:solidFill>
          <a:ln>
            <a:solidFill>
              <a:srgbClr val="F05A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643231E-F34B-5F13-F99E-94B40D03BA36}"/>
              </a:ext>
            </a:extLst>
          </p:cNvPr>
          <p:cNvSpPr txBox="1"/>
          <p:nvPr/>
        </p:nvSpPr>
        <p:spPr>
          <a:xfrm>
            <a:off x="609600" y="355600"/>
            <a:ext cx="2794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100" b="1">
                <a:solidFill>
                  <a:srgbClr val="F05A28"/>
                </a:solidFill>
                <a:latin typeface="Aptos" panose="020B0004020202020204" pitchFamily="34" charset="0"/>
              </a:rPr>
              <a:t>08 · ACTIVACIÓN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5936E40-4084-D917-7277-AB3777D69751}"/>
              </a:ext>
            </a:extLst>
          </p:cNvPr>
          <p:cNvSpPr txBox="1"/>
          <p:nvPr/>
        </p:nvSpPr>
        <p:spPr>
          <a:xfrm>
            <a:off x="609600" y="685800"/>
            <a:ext cx="10972800" cy="4154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2700" b="1">
                <a:solidFill>
                  <a:srgbClr val="0F3038"/>
                </a:solidFill>
                <a:latin typeface="Aptos Display" panose="020B0004020202020204" pitchFamily="34" charset="0"/>
              </a:rPr>
              <a:t>Del sí comercial al primer piloto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8F4663A-CBFE-20FB-54E8-ACF9D99D93C9}"/>
              </a:ext>
            </a:extLst>
          </p:cNvPr>
          <p:cNvSpPr txBox="1"/>
          <p:nvPr/>
        </p:nvSpPr>
        <p:spPr>
          <a:xfrm>
            <a:off x="609600" y="6502400"/>
            <a:ext cx="381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900">
                <a:solidFill>
                  <a:srgbClr val="57696F"/>
                </a:solidFill>
                <a:latin typeface="Aptos" panose="020B0004020202020204" pitchFamily="34" charset="0"/>
              </a:rPr>
              <a:t>COPPE · Presentación comercial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953A841-9E6A-B993-47FE-462B9C22A530}"/>
              </a:ext>
            </a:extLst>
          </p:cNvPr>
          <p:cNvSpPr txBox="1"/>
          <p:nvPr/>
        </p:nvSpPr>
        <p:spPr>
          <a:xfrm>
            <a:off x="11303000" y="6502400"/>
            <a:ext cx="279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ES" sz="900">
                <a:solidFill>
                  <a:srgbClr val="57696F"/>
                </a:solidFill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2D27F483-B58C-24AF-B9E3-F9C3B0C4ACA9}"/>
              </a:ext>
            </a:extLst>
          </p:cNvPr>
          <p:cNvSpPr/>
          <p:nvPr/>
        </p:nvSpPr>
        <p:spPr>
          <a:xfrm>
            <a:off x="939800" y="1600200"/>
            <a:ext cx="660400" cy="660400"/>
          </a:xfrm>
          <a:prstGeom prst="roundRect">
            <a:avLst>
              <a:gd name="adj" fmla="val 30000"/>
            </a:avLst>
          </a:prstGeom>
          <a:solidFill>
            <a:srgbClr val="F05A28"/>
          </a:solidFill>
          <a:ln>
            <a:solidFill>
              <a:srgbClr val="F05A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B8808C31-766F-3CB1-B8C9-4BC1DF1532CB}"/>
              </a:ext>
            </a:extLst>
          </p:cNvPr>
          <p:cNvSpPr txBox="1"/>
          <p:nvPr/>
        </p:nvSpPr>
        <p:spPr>
          <a:xfrm>
            <a:off x="939800" y="1778000"/>
            <a:ext cx="660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ES" sz="16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B9EE79B-57D4-B436-0179-BC324FF4E2F8}"/>
              </a:ext>
            </a:extLst>
          </p:cNvPr>
          <p:cNvSpPr txBox="1"/>
          <p:nvPr/>
        </p:nvSpPr>
        <p:spPr>
          <a:xfrm>
            <a:off x="1955800" y="1625600"/>
            <a:ext cx="3175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600" b="1">
                <a:solidFill>
                  <a:srgbClr val="0F3038"/>
                </a:solidFill>
                <a:latin typeface="Aptos" panose="020B0004020202020204" pitchFamily="34" charset="0"/>
              </a:rPr>
              <a:t>Pedido condicionado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4511777-7ECB-3066-419E-2E92B8543F60}"/>
              </a:ext>
            </a:extLst>
          </p:cNvPr>
          <p:cNvSpPr txBox="1"/>
          <p:nvPr/>
        </p:nvSpPr>
        <p:spPr>
          <a:xfrm>
            <a:off x="1955800" y="1981200"/>
            <a:ext cx="825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200">
                <a:solidFill>
                  <a:srgbClr val="57696F"/>
                </a:solidFill>
                <a:latin typeface="Aptos" panose="020B0004020202020204" pitchFamily="34" charset="0"/>
              </a:rPr>
              <a:t>Alcance, precio y plazo sin cobrar todavía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1465B7E-E69F-56E6-29BB-311628613A6C}"/>
              </a:ext>
            </a:extLst>
          </p:cNvPr>
          <p:cNvSpPr/>
          <p:nvPr/>
        </p:nvSpPr>
        <p:spPr>
          <a:xfrm>
            <a:off x="1244600" y="2260600"/>
            <a:ext cx="50800" cy="228600"/>
          </a:xfrm>
          <a:prstGeom prst="rect">
            <a:avLst/>
          </a:prstGeom>
          <a:solidFill>
            <a:srgbClr val="CCDEE1"/>
          </a:solidFill>
          <a:ln>
            <a:solidFill>
              <a:srgbClr val="CCD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: esquinas redondeadas 12">
            <a:extLst>
              <a:ext uri="{FF2B5EF4-FFF2-40B4-BE49-F238E27FC236}">
                <a16:creationId xmlns:a16="http://schemas.microsoft.com/office/drawing/2014/main" id="{62AA8057-7D73-6DD2-0EE8-12BB9A199B67}"/>
              </a:ext>
            </a:extLst>
          </p:cNvPr>
          <p:cNvSpPr/>
          <p:nvPr/>
        </p:nvSpPr>
        <p:spPr>
          <a:xfrm>
            <a:off x="939800" y="2489200"/>
            <a:ext cx="660400" cy="660400"/>
          </a:xfrm>
          <a:prstGeom prst="roundRect">
            <a:avLst>
              <a:gd name="adj" fmla="val 30000"/>
            </a:avLst>
          </a:prstGeom>
          <a:solidFill>
            <a:srgbClr val="0D515B"/>
          </a:solidFill>
          <a:ln>
            <a:solidFill>
              <a:srgbClr val="0D51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758FE0B-D892-ABFB-DB7C-999AC84110A8}"/>
              </a:ext>
            </a:extLst>
          </p:cNvPr>
          <p:cNvSpPr txBox="1"/>
          <p:nvPr/>
        </p:nvSpPr>
        <p:spPr>
          <a:xfrm>
            <a:off x="939800" y="2667000"/>
            <a:ext cx="660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ES" sz="16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D10B664F-FD37-DA85-B8F0-C567F43A739C}"/>
              </a:ext>
            </a:extLst>
          </p:cNvPr>
          <p:cNvSpPr txBox="1"/>
          <p:nvPr/>
        </p:nvSpPr>
        <p:spPr>
          <a:xfrm>
            <a:off x="1955800" y="2514600"/>
            <a:ext cx="3175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600" b="1">
                <a:solidFill>
                  <a:srgbClr val="0F3038"/>
                </a:solidFill>
                <a:latin typeface="Aptos" panose="020B0004020202020204" pitchFamily="34" charset="0"/>
              </a:rPr>
              <a:t>Entidad y contratos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6ACAC6F-DE34-F043-66A6-7AECF08C258D}"/>
              </a:ext>
            </a:extLst>
          </p:cNvPr>
          <p:cNvSpPr txBox="1"/>
          <p:nvPr/>
        </p:nvSpPr>
        <p:spPr>
          <a:xfrm>
            <a:off x="1955800" y="2870200"/>
            <a:ext cx="825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200">
                <a:solidFill>
                  <a:srgbClr val="57696F"/>
                </a:solidFill>
                <a:latin typeface="Aptos" panose="020B0004020202020204" pitchFamily="34" charset="0"/>
              </a:rPr>
              <a:t>S.L.U., NIF, SaaS, DPA y soporte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BBC131C6-45D8-A096-F3C1-F9DD0CDB9DA7}"/>
              </a:ext>
            </a:extLst>
          </p:cNvPr>
          <p:cNvSpPr/>
          <p:nvPr/>
        </p:nvSpPr>
        <p:spPr>
          <a:xfrm>
            <a:off x="1244600" y="3149600"/>
            <a:ext cx="50800" cy="228600"/>
          </a:xfrm>
          <a:prstGeom prst="rect">
            <a:avLst/>
          </a:prstGeom>
          <a:solidFill>
            <a:srgbClr val="CCDEE1"/>
          </a:solidFill>
          <a:ln>
            <a:solidFill>
              <a:srgbClr val="CCD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Rectángulo: esquinas redondeadas 17">
            <a:extLst>
              <a:ext uri="{FF2B5EF4-FFF2-40B4-BE49-F238E27FC236}">
                <a16:creationId xmlns:a16="http://schemas.microsoft.com/office/drawing/2014/main" id="{CC14CD56-6EEB-98CA-5202-C59BC9116EF6}"/>
              </a:ext>
            </a:extLst>
          </p:cNvPr>
          <p:cNvSpPr/>
          <p:nvPr/>
        </p:nvSpPr>
        <p:spPr>
          <a:xfrm>
            <a:off x="939800" y="3378200"/>
            <a:ext cx="660400" cy="660400"/>
          </a:xfrm>
          <a:prstGeom prst="roundRect">
            <a:avLst>
              <a:gd name="adj" fmla="val 30000"/>
            </a:avLst>
          </a:prstGeom>
          <a:solidFill>
            <a:srgbClr val="0D515B"/>
          </a:solidFill>
          <a:ln>
            <a:solidFill>
              <a:srgbClr val="0D51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7E5EA57C-B300-D452-8662-BC2A2987CA3F}"/>
              </a:ext>
            </a:extLst>
          </p:cNvPr>
          <p:cNvSpPr txBox="1"/>
          <p:nvPr/>
        </p:nvSpPr>
        <p:spPr>
          <a:xfrm>
            <a:off x="939800" y="3556000"/>
            <a:ext cx="660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ES" sz="16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F45018FE-1F0C-3CF7-FEB5-5A2BAA091B02}"/>
              </a:ext>
            </a:extLst>
          </p:cNvPr>
          <p:cNvSpPr txBox="1"/>
          <p:nvPr/>
        </p:nvSpPr>
        <p:spPr>
          <a:xfrm>
            <a:off x="1955800" y="3403600"/>
            <a:ext cx="3175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600" b="1">
                <a:solidFill>
                  <a:srgbClr val="0F3038"/>
                </a:solidFill>
                <a:latin typeface="Aptos" panose="020B0004020202020204" pitchFamily="34" charset="0"/>
              </a:rPr>
              <a:t>Entorno profesional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3E9B7AA5-3118-E2ED-4D46-B94C5C6A7061}"/>
              </a:ext>
            </a:extLst>
          </p:cNvPr>
          <p:cNvSpPr txBox="1"/>
          <p:nvPr/>
        </p:nvSpPr>
        <p:spPr>
          <a:xfrm>
            <a:off x="1955800" y="3759200"/>
            <a:ext cx="825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200">
                <a:solidFill>
                  <a:srgbClr val="57696F"/>
                </a:solidFill>
                <a:latin typeface="Aptos" panose="020B0004020202020204" pitchFamily="34" charset="0"/>
              </a:rPr>
              <a:t>Planes comerciales, copias y monitorización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96500129-50A6-DA8F-40BB-040646C3CC21}"/>
              </a:ext>
            </a:extLst>
          </p:cNvPr>
          <p:cNvSpPr/>
          <p:nvPr/>
        </p:nvSpPr>
        <p:spPr>
          <a:xfrm>
            <a:off x="1244600" y="4038600"/>
            <a:ext cx="50800" cy="228600"/>
          </a:xfrm>
          <a:prstGeom prst="rect">
            <a:avLst/>
          </a:prstGeom>
          <a:solidFill>
            <a:srgbClr val="CCDEE1"/>
          </a:solidFill>
          <a:ln>
            <a:solidFill>
              <a:srgbClr val="CCD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3AF7BE0A-19F9-D21A-F55E-D03EF1359037}"/>
              </a:ext>
            </a:extLst>
          </p:cNvPr>
          <p:cNvSpPr/>
          <p:nvPr/>
        </p:nvSpPr>
        <p:spPr>
          <a:xfrm>
            <a:off x="939800" y="4267200"/>
            <a:ext cx="660400" cy="660400"/>
          </a:xfrm>
          <a:prstGeom prst="roundRect">
            <a:avLst>
              <a:gd name="adj" fmla="val 30000"/>
            </a:avLst>
          </a:prstGeom>
          <a:solidFill>
            <a:srgbClr val="0D515B"/>
          </a:solidFill>
          <a:ln>
            <a:solidFill>
              <a:srgbClr val="0D51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1B525BC9-85C6-A029-1142-366E1F5E7593}"/>
              </a:ext>
            </a:extLst>
          </p:cNvPr>
          <p:cNvSpPr txBox="1"/>
          <p:nvPr/>
        </p:nvSpPr>
        <p:spPr>
          <a:xfrm>
            <a:off x="939800" y="4445000"/>
            <a:ext cx="660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ES" sz="1600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060C84D4-5E44-09B7-4B3F-2F9DFD99F90B}"/>
              </a:ext>
            </a:extLst>
          </p:cNvPr>
          <p:cNvSpPr txBox="1"/>
          <p:nvPr/>
        </p:nvSpPr>
        <p:spPr>
          <a:xfrm>
            <a:off x="1955800" y="4292600"/>
            <a:ext cx="3175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600" b="1">
                <a:solidFill>
                  <a:srgbClr val="0F3038"/>
                </a:solidFill>
                <a:latin typeface="Aptos" panose="020B0004020202020204" pitchFamily="34" charset="0"/>
              </a:rPr>
              <a:t>Onboarding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33C0D79C-668B-518A-D08A-4A3128528417}"/>
              </a:ext>
            </a:extLst>
          </p:cNvPr>
          <p:cNvSpPr txBox="1"/>
          <p:nvPr/>
        </p:nvSpPr>
        <p:spPr>
          <a:xfrm>
            <a:off x="1955800" y="4648200"/>
            <a:ext cx="825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200">
                <a:solidFill>
                  <a:srgbClr val="57696F"/>
                </a:solidFill>
                <a:latin typeface="Aptos" panose="020B0004020202020204" pitchFamily="34" charset="0"/>
              </a:rPr>
              <a:t>Usuarios, canales, formación y datos autorizados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681CFA6D-3752-1C86-179A-9798DBC223C8}"/>
              </a:ext>
            </a:extLst>
          </p:cNvPr>
          <p:cNvSpPr/>
          <p:nvPr/>
        </p:nvSpPr>
        <p:spPr>
          <a:xfrm>
            <a:off x="1244600" y="4927600"/>
            <a:ext cx="50800" cy="228600"/>
          </a:xfrm>
          <a:prstGeom prst="rect">
            <a:avLst/>
          </a:prstGeom>
          <a:solidFill>
            <a:srgbClr val="CCDEE1"/>
          </a:solidFill>
          <a:ln>
            <a:solidFill>
              <a:srgbClr val="CCDE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8" name="Rectángulo: esquinas redondeadas 27">
            <a:extLst>
              <a:ext uri="{FF2B5EF4-FFF2-40B4-BE49-F238E27FC236}">
                <a16:creationId xmlns:a16="http://schemas.microsoft.com/office/drawing/2014/main" id="{F73380A0-3833-6E30-F152-F42DB9087FEB}"/>
              </a:ext>
            </a:extLst>
          </p:cNvPr>
          <p:cNvSpPr/>
          <p:nvPr/>
        </p:nvSpPr>
        <p:spPr>
          <a:xfrm>
            <a:off x="939800" y="5156200"/>
            <a:ext cx="660400" cy="660400"/>
          </a:xfrm>
          <a:prstGeom prst="roundRect">
            <a:avLst>
              <a:gd name="adj" fmla="val 30000"/>
            </a:avLst>
          </a:prstGeom>
          <a:solidFill>
            <a:srgbClr val="0D515B"/>
          </a:solidFill>
          <a:ln>
            <a:solidFill>
              <a:srgbClr val="0D51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735E75B5-9490-1093-1EC7-192973B80AE2}"/>
              </a:ext>
            </a:extLst>
          </p:cNvPr>
          <p:cNvSpPr txBox="1"/>
          <p:nvPr/>
        </p:nvSpPr>
        <p:spPr>
          <a:xfrm>
            <a:off x="939800" y="5334000"/>
            <a:ext cx="660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s-ES" sz="1600" b="1">
                <a:solidFill>
                  <a:srgbClr val="FFFFFF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F9019C62-008A-1466-07C9-A12F8781903B}"/>
              </a:ext>
            </a:extLst>
          </p:cNvPr>
          <p:cNvSpPr txBox="1"/>
          <p:nvPr/>
        </p:nvSpPr>
        <p:spPr>
          <a:xfrm>
            <a:off x="1955800" y="5181600"/>
            <a:ext cx="3175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600" b="1">
                <a:solidFill>
                  <a:srgbClr val="0F3038"/>
                </a:solidFill>
                <a:latin typeface="Aptos" panose="020B0004020202020204" pitchFamily="34" charset="0"/>
              </a:rPr>
              <a:t>Piloto</a:t>
            </a:r>
          </a:p>
        </p:txBody>
      </p:sp>
      <p:sp>
        <p:nvSpPr>
          <p:cNvPr id="31" name="CuadroTexto 30">
            <a:extLst>
              <a:ext uri="{FF2B5EF4-FFF2-40B4-BE49-F238E27FC236}">
                <a16:creationId xmlns:a16="http://schemas.microsoft.com/office/drawing/2014/main" id="{325E0DF4-DD90-2A2B-EF4C-C1F6111B0815}"/>
              </a:ext>
            </a:extLst>
          </p:cNvPr>
          <p:cNvSpPr txBox="1"/>
          <p:nvPr/>
        </p:nvSpPr>
        <p:spPr>
          <a:xfrm>
            <a:off x="1955800" y="5537200"/>
            <a:ext cx="825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200">
                <a:solidFill>
                  <a:srgbClr val="57696F"/>
                </a:solidFill>
                <a:latin typeface="Aptos" panose="020B0004020202020204" pitchFamily="34" charset="0"/>
              </a:rPr>
              <a:t>30 días, métricas y decisión de continuidad</a:t>
            </a:r>
          </a:p>
        </p:txBody>
      </p:sp>
    </p:spTree>
    <p:extLst>
      <p:ext uri="{BB962C8B-B14F-4D97-AF65-F5344CB8AC3E}">
        <p14:creationId xmlns:p14="http://schemas.microsoft.com/office/powerpoint/2010/main" val="20942212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618980EF-B7F0-6AF5-96BF-B1EC49ED6F5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515B"/>
          </a:solidFill>
          <a:ln>
            <a:solidFill>
              <a:srgbClr val="0D51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25776DFB-9976-2492-B036-36A29A232D88}"/>
              </a:ext>
            </a:extLst>
          </p:cNvPr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rgbClr val="F05A28"/>
          </a:solidFill>
          <a:ln>
            <a:solidFill>
              <a:srgbClr val="F05A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4FF444E-B974-3B66-7559-D4AF51FAE2D2}"/>
              </a:ext>
            </a:extLst>
          </p:cNvPr>
          <p:cNvSpPr txBox="1"/>
          <p:nvPr/>
        </p:nvSpPr>
        <p:spPr>
          <a:xfrm>
            <a:off x="812800" y="939800"/>
            <a:ext cx="5334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600" b="1">
                <a:solidFill>
                  <a:srgbClr val="CDE2E5"/>
                </a:solidFill>
                <a:latin typeface="Aptos" panose="020B0004020202020204" pitchFamily="34" charset="0"/>
              </a:rPr>
              <a:t>Siguiente paso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41B60F7C-70F7-64A2-23A0-1D4A603DE1DF}"/>
              </a:ext>
            </a:extLst>
          </p:cNvPr>
          <p:cNvSpPr txBox="1"/>
          <p:nvPr/>
        </p:nvSpPr>
        <p:spPr>
          <a:xfrm>
            <a:off x="812800" y="1752600"/>
            <a:ext cx="9779000" cy="5232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3400" b="1">
                <a:solidFill>
                  <a:srgbClr val="FFFFFF"/>
                </a:solidFill>
                <a:latin typeface="Aptos Display" panose="020B0004020202020204" pitchFamily="34" charset="0"/>
              </a:rPr>
              <a:t>Sesión de descubrimiento de 45 minutos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F8EF6E5-FF1D-6EC6-54FE-CCACF4EB52E5}"/>
              </a:ext>
            </a:extLst>
          </p:cNvPr>
          <p:cNvSpPr txBox="1"/>
          <p:nvPr/>
        </p:nvSpPr>
        <p:spPr>
          <a:xfrm>
            <a:off x="812800" y="3606800"/>
            <a:ext cx="9271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>
                <a:solidFill>
                  <a:srgbClr val="DCEDEF"/>
                </a:solidFill>
                <a:latin typeface="Aptos" panose="020B0004020202020204" pitchFamily="34" charset="0"/>
              </a:rPr>
              <a:t>Definimos proceso, volumen, canales, responsables y métricas. Después entregamos una propuesta de piloto cerrada.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9B2441F0-982F-3B37-818F-E07289033D24}"/>
              </a:ext>
            </a:extLst>
          </p:cNvPr>
          <p:cNvSpPr/>
          <p:nvPr/>
        </p:nvSpPr>
        <p:spPr>
          <a:xfrm>
            <a:off x="812800" y="5181600"/>
            <a:ext cx="4064000" cy="685800"/>
          </a:xfrm>
          <a:prstGeom prst="roundRect">
            <a:avLst>
              <a:gd name="adj" fmla="val 15000"/>
            </a:avLst>
          </a:prstGeom>
          <a:solidFill>
            <a:srgbClr val="F05A28"/>
          </a:solidFill>
          <a:ln>
            <a:solidFill>
              <a:srgbClr val="F05A2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0A05C04-EC78-383D-D580-35CA8772E326}"/>
              </a:ext>
            </a:extLst>
          </p:cNvPr>
          <p:cNvSpPr txBox="1"/>
          <p:nvPr/>
        </p:nvSpPr>
        <p:spPr>
          <a:xfrm>
            <a:off x="1092200" y="5359400"/>
            <a:ext cx="35052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s-ES" sz="1600" b="1">
                <a:solidFill>
                  <a:srgbClr val="FFFFFF"/>
                </a:solidFill>
                <a:latin typeface="Aptos" panose="020B0004020202020204" pitchFamily="34" charset="0"/>
              </a:rPr>
              <a:t>COPPE · app.coppe.es</a:t>
            </a:r>
          </a:p>
        </p:txBody>
      </p:sp>
    </p:spTree>
    <p:extLst>
      <p:ext uri="{BB962C8B-B14F-4D97-AF65-F5344CB8AC3E}">
        <p14:creationId xmlns:p14="http://schemas.microsoft.com/office/powerpoint/2010/main" val="129903297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670</Words>
  <Application>Microsoft Office PowerPoint</Application>
  <PresentationFormat>Personalizado</PresentationFormat>
  <Paragraphs>134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Juanma</dc:creator>
  <cp:lastModifiedBy>Juanma</cp:lastModifiedBy>
  <cp:revision>1</cp:revision>
  <dcterms:created xsi:type="dcterms:W3CDTF">2026-06-30T09:06:50Z</dcterms:created>
  <dcterms:modified xsi:type="dcterms:W3CDTF">2026-06-30T09:06:50Z</dcterms:modified>
</cp:coreProperties>
</file>