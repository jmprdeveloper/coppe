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5E31C7-C484-197E-E533-B96E3B17AA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BCEBE1C-87C2-3481-C091-2AE116120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DBC5C1-242C-1B27-6147-2E332EF62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83E1AF-BAC2-14B6-3F70-69B39673B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1134F2-A47F-EFE6-BCD3-6251EE5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7440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F2E3E-FB01-49F2-BCC4-EA49BA464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012B77E-792F-C76E-5AD1-A1B2AB6EC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7FC34A-A1CC-8598-C796-C32FC3AE3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055483-0151-D659-E49B-ADE799DCE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F58230-BA5A-1931-8C1C-717F04DD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8419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1EE205-945F-2971-731C-72B8AD2BC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AF398F4-5A67-FC7A-E27B-F8D99B4B67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133FA6-0420-2CDF-D919-57E9E3BAA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8B11CC2-C373-D10A-6D8B-6863225CD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D305DE3-60C0-A14E-FD7B-623AA75A6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4013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2F4151-ACBE-9CD2-14D4-9B8D98F35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8BF4710-90FE-F2F0-F502-0771E4A68F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027402D-CE28-E6DA-65DC-6CB2354E0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15627D-1570-0315-95FA-4FBF78957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DEB7653-5FBB-5CAE-C302-68482049C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D43DB5C-4FBC-55AF-182E-9EDC29B36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738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AC83A5-C336-AC3D-AE29-718BA762AC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03586CB-AD15-AD9F-51AC-E9A8B3865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270CE07-180D-F0A0-373E-E8E033276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0E696A9-617F-EEEC-32B3-DF29A81CAD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C97187E-D628-8020-CF24-8A13E475BA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1AD1CD6-D926-C1C0-6645-6A480D32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32C76780-98F1-9BFD-C19A-8C3614AD4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AF21316-E9CE-BC4C-09B4-631DF78F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7767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AFB91-112A-F0CA-F92E-321A5002C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6B824A-F87A-41E7-6CB7-B8F9FD4A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7F3E2AD-376A-855A-6423-40ED5EF2A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B97FD26-1CCC-CFD7-B927-797A56AE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2494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BBDC0C4-B555-A9CE-94B8-EFE878B6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21DF744-B028-E431-235B-EA34A1319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E46D18-DF54-A037-1100-F081145A7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250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0D931A-DD21-5AE9-EAF5-C0D87B18C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39819E9-9858-EC24-C160-236F17E46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0B74609-7798-031D-2B96-0EA46B0BA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9F8F244-56B8-A123-51AB-F5F195DB9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AF3A11-FCA0-B0BF-ED05-FD5610155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0B7C679-3AEB-E78E-EFF0-3EB2B689F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41066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A5F2E3-53F0-F25D-ABF7-1810B0513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6C48FF3-7FB3-F034-C7FC-9AE3DE736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8F3173-3CA8-D7FC-E7C0-E73825F8C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EBEEE2C-D7D7-B384-F837-25D890C2A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8C183-DFC4-94B7-0870-654DCCD32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D6816BB-8F6D-B1B1-DD8B-16FA50858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5066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BE7C34-B395-381F-DB0C-19EEF7C92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1FF57E-41CB-F820-A55F-CEE1382445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2F0D968-68D1-0376-FE94-40FBDC91C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25870B-043A-CBEF-5AAF-D51598570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EE2D86-BCFA-2689-034B-122251E3C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1169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B00ECA-F975-DD2F-CDD1-6A3C6581EEB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5CB2D8C-31BA-538B-2E99-32286169BD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F1F85B-D704-9365-5F12-EECDFAB5E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37A458C-5E3A-8981-76E0-D14A0BE31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B37D4EF-A91E-6173-A4D4-DD4BF0C4F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012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8CC3A60-5174-19C2-A1F1-0F8CE3DF4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BD9F35F-7745-F5F3-B538-5AB55A5EC4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5DB2BC-17DA-1AF1-A94D-714847C4D0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754811-2D54-4639-BBF5-CC258A06F04F}" type="datetimeFigureOut">
              <a:rPr lang="es-ES" smtClean="0"/>
              <a:t>30/06/2026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B1299F4-CD96-09F9-8C21-B81B268165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611D85-5B37-2B15-693A-33E2CF0F6B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257DC0-E254-4681-A078-9B54C04EB41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152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9C2ADD3-1CBA-4E7D-9EDA-E011907F67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633"/>
          </a:solidFill>
          <a:ln>
            <a:solidFill>
              <a:srgbClr val="061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41A924F-5DDC-04DC-464F-B72E65B55B8A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63299AF-2425-BD8B-39D9-02052FF4F1FB}"/>
              </a:ext>
            </a:extLst>
          </p:cNvPr>
          <p:cNvSpPr/>
          <p:nvPr/>
        </p:nvSpPr>
        <p:spPr>
          <a:xfrm>
            <a:off x="152400" y="0"/>
            <a:ext cx="88900" cy="68580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0A1CA89-61CA-C6C8-BEC2-4A2E44CC7CE9}"/>
              </a:ext>
            </a:extLst>
          </p:cNvPr>
          <p:cNvSpPr/>
          <p:nvPr/>
        </p:nvSpPr>
        <p:spPr>
          <a:xfrm>
            <a:off x="9169400" y="-1524000"/>
            <a:ext cx="4572000" cy="4572000"/>
          </a:xfrm>
          <a:prstGeom prst="ellipse">
            <a:avLst/>
          </a:prstGeom>
          <a:solidFill>
            <a:srgbClr val="12CFE3">
              <a:alpha val="2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7BAFB01B-9325-BD30-D170-D4891FB0ECF3}"/>
              </a:ext>
            </a:extLst>
          </p:cNvPr>
          <p:cNvSpPr/>
          <p:nvPr/>
        </p:nvSpPr>
        <p:spPr>
          <a:xfrm>
            <a:off x="8636000" y="3810000"/>
            <a:ext cx="4699000" cy="4699000"/>
          </a:xfrm>
          <a:prstGeom prst="ellipse">
            <a:avLst/>
          </a:prstGeom>
          <a:noFill/>
          <a:ln w="25400" cap="flat" cmpd="sng" algn="ctr">
            <a:solidFill>
              <a:srgbClr val="FFFFFF">
                <a:alpha val="18000"/>
              </a:srgbClr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81CCAE24-D462-E777-807B-91BC1FE0CAD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" y="685800"/>
            <a:ext cx="1320800" cy="13208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395F13A-247A-48AF-1F9A-A9421D51D292}"/>
              </a:ext>
            </a:extLst>
          </p:cNvPr>
          <p:cNvSpPr txBox="1"/>
          <p:nvPr/>
        </p:nvSpPr>
        <p:spPr>
          <a:xfrm>
            <a:off x="2362200" y="990600"/>
            <a:ext cx="3810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500" b="1">
                <a:solidFill>
                  <a:srgbClr val="FFFFFF"/>
                </a:solidFill>
                <a:latin typeface="Aptos Display" panose="020B0004020202020204" pitchFamily="34" charset="0"/>
              </a:rPr>
              <a:t>COPPE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67F4137-FA10-C2A0-9407-22ABA5603B12}"/>
              </a:ext>
            </a:extLst>
          </p:cNvPr>
          <p:cNvSpPr txBox="1"/>
          <p:nvPr/>
        </p:nvSpPr>
        <p:spPr>
          <a:xfrm>
            <a:off x="838200" y="2311400"/>
            <a:ext cx="4826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12CFE3"/>
                </a:solidFill>
                <a:latin typeface="Aptos" panose="020B0004020202020204" pitchFamily="34" charset="0"/>
              </a:rPr>
              <a:t>DOSSIER COMERCIAL · 2026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C3D2C4F-46A8-BFF6-B72D-26921F5C77C5}"/>
              </a:ext>
            </a:extLst>
          </p:cNvPr>
          <p:cNvSpPr txBox="1"/>
          <p:nvPr/>
        </p:nvSpPr>
        <p:spPr>
          <a:xfrm>
            <a:off x="812800" y="2768600"/>
            <a:ext cx="10033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200" b="1">
                <a:solidFill>
                  <a:srgbClr val="FFFFFF"/>
                </a:solidFill>
                <a:latin typeface="Aptos Display" panose="020B0004020202020204" pitchFamily="34" charset="0"/>
              </a:rPr>
              <a:t>La atención al cliente, convertida en trabajo organizado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EDB931B-35F2-1B20-CFAB-6B020E7BA8E8}"/>
              </a:ext>
            </a:extLst>
          </p:cNvPr>
          <p:cNvSpPr txBox="1"/>
          <p:nvPr/>
        </p:nvSpPr>
        <p:spPr>
          <a:xfrm>
            <a:off x="812800" y="4495800"/>
            <a:ext cx="9144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700">
                <a:solidFill>
                  <a:srgbClr val="D7E9FF"/>
                </a:solidFill>
                <a:latin typeface="Aptos" panose="020B0004020202020204" pitchFamily="34" charset="0"/>
              </a:rPr>
              <a:t>Centraliza conversaciones, responde con contexto y convierte cada petición en una acción trazable.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9F670CD0-13DD-CF85-60B0-74B31A1BFCA4}"/>
              </a:ext>
            </a:extLst>
          </p:cNvPr>
          <p:cNvSpPr/>
          <p:nvPr/>
        </p:nvSpPr>
        <p:spPr>
          <a:xfrm>
            <a:off x="812800" y="5689600"/>
            <a:ext cx="3429000" cy="558800"/>
          </a:xfrm>
          <a:prstGeom prst="roundRect">
            <a:avLst>
              <a:gd name="adj" fmla="val 18000"/>
            </a:avLst>
          </a:prstGeom>
          <a:solidFill>
            <a:srgbClr val="0A3669"/>
          </a:solidFill>
          <a:ln>
            <a:solidFill>
              <a:srgbClr val="3171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FE5C3AE-F6DA-33B8-AAC9-8E11DEE778DD}"/>
              </a:ext>
            </a:extLst>
          </p:cNvPr>
          <p:cNvSpPr txBox="1"/>
          <p:nvPr/>
        </p:nvSpPr>
        <p:spPr>
          <a:xfrm>
            <a:off x="1041400" y="5842000"/>
            <a:ext cx="29972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300" b="1">
                <a:solidFill>
                  <a:srgbClr val="FFFFFF"/>
                </a:solidFill>
                <a:latin typeface="Aptos" panose="020B0004020202020204" pitchFamily="34" charset="0"/>
              </a:rPr>
              <a:t>SaaS B2B · Piloto de 30 días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078822A-77C2-B468-BA47-0A0F5748928E}"/>
              </a:ext>
            </a:extLst>
          </p:cNvPr>
          <p:cNvSpPr txBox="1"/>
          <p:nvPr/>
        </p:nvSpPr>
        <p:spPr>
          <a:xfrm>
            <a:off x="9398000" y="6184900"/>
            <a:ext cx="1905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000">
                <a:solidFill>
                  <a:srgbClr val="BED5EE"/>
                </a:solidFill>
                <a:latin typeface="Aptos" panose="020B0004020202020204" pitchFamily="34" charset="0"/>
              </a:rPr>
              <a:t>app.coppe.es</a:t>
            </a:r>
          </a:p>
        </p:txBody>
      </p:sp>
    </p:spTree>
    <p:extLst>
      <p:ext uri="{BB962C8B-B14F-4D97-AF65-F5344CB8AC3E}">
        <p14:creationId xmlns:p14="http://schemas.microsoft.com/office/powerpoint/2010/main" val="2283427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553D459-28A6-B93F-E3BF-3933D98A37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54BF715-85DB-2E7C-45B5-8B619510F553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9FB747B-4838-B2AB-352B-7479A946CD77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9EA78204-75C2-CA1B-B12B-BA2CC8FA6168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B2B686A-096B-0F3A-A9C2-997D1823C5BA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01 · PROBLEMA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615AC-5F2A-E090-E79F-505670F42983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Las consultas llegan; el trabajo se dispersa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A92997A6-BB92-C997-AB65-6021F4FFDE0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0C28610C-D0C8-1574-E307-084BECE1D85C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B778CB5-D25A-062A-8B60-387FC4D89E81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42F806C-61B4-B44A-78F0-313653FBF8D9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4C88383-67FD-B5B8-34F1-C2F3CEA3164B}"/>
              </a:ext>
            </a:extLst>
          </p:cNvPr>
          <p:cNvSpPr/>
          <p:nvPr/>
        </p:nvSpPr>
        <p:spPr>
          <a:xfrm>
            <a:off x="609600" y="1651000"/>
            <a:ext cx="2540000" cy="180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01BA19F-98F2-A69B-135E-216551938BE3}"/>
              </a:ext>
            </a:extLst>
          </p:cNvPr>
          <p:cNvSpPr/>
          <p:nvPr/>
        </p:nvSpPr>
        <p:spPr>
          <a:xfrm>
            <a:off x="609600" y="1651000"/>
            <a:ext cx="76200" cy="18034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DB5C27-E304-1EB0-7CA5-042B075F207F}"/>
              </a:ext>
            </a:extLst>
          </p:cNvPr>
          <p:cNvSpPr txBox="1"/>
          <p:nvPr/>
        </p:nvSpPr>
        <p:spPr>
          <a:xfrm>
            <a:off x="863600" y="1879600"/>
            <a:ext cx="2108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Canales separados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ADA2D1-28EA-4BFE-B7E7-AD6D05D11C2D}"/>
              </a:ext>
            </a:extLst>
          </p:cNvPr>
          <p:cNvSpPr txBox="1"/>
          <p:nvPr/>
        </p:nvSpPr>
        <p:spPr>
          <a:xfrm>
            <a:off x="863600" y="2311400"/>
            <a:ext cx="21082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Email, WhatsApp, formularios, llamadas y redes sin una visión única.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1F1D5276-A97D-DC27-CACB-A98816800644}"/>
              </a:ext>
            </a:extLst>
          </p:cNvPr>
          <p:cNvSpPr/>
          <p:nvPr/>
        </p:nvSpPr>
        <p:spPr>
          <a:xfrm>
            <a:off x="3365500" y="1651000"/>
            <a:ext cx="2540000" cy="180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3D00803-DB09-F9E2-86FA-63CFBFFF8CF4}"/>
              </a:ext>
            </a:extLst>
          </p:cNvPr>
          <p:cNvSpPr/>
          <p:nvPr/>
        </p:nvSpPr>
        <p:spPr>
          <a:xfrm>
            <a:off x="3365500" y="1651000"/>
            <a:ext cx="76200" cy="18034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045E211-8CCD-6C65-F673-25DF48B843AC}"/>
              </a:ext>
            </a:extLst>
          </p:cNvPr>
          <p:cNvSpPr txBox="1"/>
          <p:nvPr/>
        </p:nvSpPr>
        <p:spPr>
          <a:xfrm>
            <a:off x="3619500" y="1879600"/>
            <a:ext cx="2108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Contexto fragmentado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4951C2F9-5787-A317-1EA5-940A024DE181}"/>
              </a:ext>
            </a:extLst>
          </p:cNvPr>
          <p:cNvSpPr txBox="1"/>
          <p:nvPr/>
        </p:nvSpPr>
        <p:spPr>
          <a:xfrm>
            <a:off x="3619500" y="2311400"/>
            <a:ext cx="21082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Cada persona conserva una parte de la conversación y de las decisiones.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5F411F6-F25F-41CE-A156-03D076EC796D}"/>
              </a:ext>
            </a:extLst>
          </p:cNvPr>
          <p:cNvSpPr/>
          <p:nvPr/>
        </p:nvSpPr>
        <p:spPr>
          <a:xfrm>
            <a:off x="6121400" y="1651000"/>
            <a:ext cx="2540000" cy="180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9CB5286-1B4C-4531-55BA-7A4B1A150F42}"/>
              </a:ext>
            </a:extLst>
          </p:cNvPr>
          <p:cNvSpPr/>
          <p:nvPr/>
        </p:nvSpPr>
        <p:spPr>
          <a:xfrm>
            <a:off x="6121400" y="1651000"/>
            <a:ext cx="76200" cy="18034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E66E3B6-5530-E9E6-80BD-6A0CBA8A1B0A}"/>
              </a:ext>
            </a:extLst>
          </p:cNvPr>
          <p:cNvSpPr txBox="1"/>
          <p:nvPr/>
        </p:nvSpPr>
        <p:spPr>
          <a:xfrm>
            <a:off x="6375400" y="1879600"/>
            <a:ext cx="21082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Seguimientos olvidados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EDA3293-F3BC-2E62-DFFA-A091678F5102}"/>
              </a:ext>
            </a:extLst>
          </p:cNvPr>
          <p:cNvSpPr txBox="1"/>
          <p:nvPr/>
        </p:nvSpPr>
        <p:spPr>
          <a:xfrm>
            <a:off x="6375400" y="2311400"/>
            <a:ext cx="21082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Los pendientes viven en notas, memoria o calendarios desconectados.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09652D8A-C9B7-8711-AAF0-2BCA17EC3BB9}"/>
              </a:ext>
            </a:extLst>
          </p:cNvPr>
          <p:cNvSpPr/>
          <p:nvPr/>
        </p:nvSpPr>
        <p:spPr>
          <a:xfrm>
            <a:off x="8877300" y="1651000"/>
            <a:ext cx="2705100" cy="180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CE73D8A-0EA0-535E-DCCF-C737C5F1D8B7}"/>
              </a:ext>
            </a:extLst>
          </p:cNvPr>
          <p:cNvSpPr/>
          <p:nvPr/>
        </p:nvSpPr>
        <p:spPr>
          <a:xfrm>
            <a:off x="8877300" y="1651000"/>
            <a:ext cx="76200" cy="18034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6D6570D5-E3E4-D082-B954-478A7DBDAF10}"/>
              </a:ext>
            </a:extLst>
          </p:cNvPr>
          <p:cNvSpPr txBox="1"/>
          <p:nvPr/>
        </p:nvSpPr>
        <p:spPr>
          <a:xfrm>
            <a:off x="9131300" y="1879600"/>
            <a:ext cx="22733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Respuesta lenta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F06C3878-A029-6A3D-BEB1-C92E4054AC4C}"/>
              </a:ext>
            </a:extLst>
          </p:cNvPr>
          <p:cNvSpPr txBox="1"/>
          <p:nvPr/>
        </p:nvSpPr>
        <p:spPr>
          <a:xfrm>
            <a:off x="9131300" y="2311400"/>
            <a:ext cx="22733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Leer, clasificar y redactar desde cero consume tiempo operativo.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16B5F088-9AC9-A485-F30A-E7C9D8D5CDE6}"/>
              </a:ext>
            </a:extLst>
          </p:cNvPr>
          <p:cNvSpPr txBox="1"/>
          <p:nvPr/>
        </p:nvSpPr>
        <p:spPr>
          <a:xfrm>
            <a:off x="1320800" y="4114800"/>
            <a:ext cx="95504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300" b="1">
                <a:solidFill>
                  <a:srgbClr val="075FC6"/>
                </a:solidFill>
                <a:latin typeface="Aptos Display" panose="020B0004020202020204" pitchFamily="34" charset="0"/>
              </a:rPr>
              <a:t>El coste real no es solo responder tarde: es perder continuidad, responsabilidad y oportunidades.</a:t>
            </a:r>
          </a:p>
        </p:txBody>
      </p:sp>
    </p:spTree>
    <p:extLst>
      <p:ext uri="{BB962C8B-B14F-4D97-AF65-F5344CB8AC3E}">
        <p14:creationId xmlns:p14="http://schemas.microsoft.com/office/powerpoint/2010/main" val="167873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67786D2-5A75-3A92-80CD-D1F4655EBEB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ABCB058-CB18-4EB1-FD12-C3F2B68E2D9F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F46CFF4-7138-2D01-3E0D-833A7EDE3007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622D7E4-D405-681E-F043-8B1DAACDBF6F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2D43A7A-CECB-CFBF-8412-BD78C860A42E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02 · SOLUCIÓN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C628864-AC68-909E-AC06-8A2C47F8302D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Un flujo común para cada conversación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432DF02-2679-15B0-20FC-9FC6A2D95B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0BE0ACA1-0742-865D-EF5E-10373BBDA71C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A84988D-1AAA-C80A-499F-65A47F73797A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461D23E-5A1B-0815-2A24-40A7A90731E4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087D831-E038-6DA5-8295-8CD750518655}"/>
              </a:ext>
            </a:extLst>
          </p:cNvPr>
          <p:cNvSpPr/>
          <p:nvPr/>
        </p:nvSpPr>
        <p:spPr>
          <a:xfrm>
            <a:off x="609600" y="1879600"/>
            <a:ext cx="1905000" cy="285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1B86AF9-26C2-D2F0-1870-E7CCAB3A7D56}"/>
              </a:ext>
            </a:extLst>
          </p:cNvPr>
          <p:cNvSpPr/>
          <p:nvPr/>
        </p:nvSpPr>
        <p:spPr>
          <a:xfrm>
            <a:off x="838200" y="2108200"/>
            <a:ext cx="533400" cy="533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9FE24D7-1688-D3F6-8B9C-129ABB775851}"/>
              </a:ext>
            </a:extLst>
          </p:cNvPr>
          <p:cNvSpPr txBox="1"/>
          <p:nvPr/>
        </p:nvSpPr>
        <p:spPr>
          <a:xfrm>
            <a:off x="838200" y="2235200"/>
            <a:ext cx="533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6F71FE-6C49-4A5C-B440-CC3BA3F90A8A}"/>
              </a:ext>
            </a:extLst>
          </p:cNvPr>
          <p:cNvSpPr txBox="1"/>
          <p:nvPr/>
        </p:nvSpPr>
        <p:spPr>
          <a:xfrm>
            <a:off x="838200" y="2870200"/>
            <a:ext cx="147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Contacto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FB02817-8905-03B7-78F9-E0EFD0A5328E}"/>
              </a:ext>
            </a:extLst>
          </p:cNvPr>
          <p:cNvSpPr txBox="1"/>
          <p:nvPr/>
        </p:nvSpPr>
        <p:spPr>
          <a:xfrm>
            <a:off x="838200" y="3403600"/>
            <a:ext cx="14732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>
                <a:solidFill>
                  <a:srgbClr val="53647C"/>
                </a:solidFill>
                <a:latin typeface="Aptos" panose="020B0004020202020204" pitchFamily="34" charset="0"/>
              </a:rPr>
              <a:t>Formulario, chat, email, WhatsApp o registro manual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AF73F725-901E-B040-B038-FE8B5B11EB1D}"/>
              </a:ext>
            </a:extLst>
          </p:cNvPr>
          <p:cNvSpPr txBox="1"/>
          <p:nvPr/>
        </p:nvSpPr>
        <p:spPr>
          <a:xfrm>
            <a:off x="2527300" y="3111500"/>
            <a:ext cx="304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000" b="1">
                <a:solidFill>
                  <a:srgbClr val="FFBD4A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B0477C81-82F9-7A10-1847-9E3830129B8D}"/>
              </a:ext>
            </a:extLst>
          </p:cNvPr>
          <p:cNvSpPr/>
          <p:nvPr/>
        </p:nvSpPr>
        <p:spPr>
          <a:xfrm>
            <a:off x="2819400" y="1879600"/>
            <a:ext cx="1905000" cy="285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48673CF4-1183-7622-77EA-5AD7A6A19A6B}"/>
              </a:ext>
            </a:extLst>
          </p:cNvPr>
          <p:cNvSpPr/>
          <p:nvPr/>
        </p:nvSpPr>
        <p:spPr>
          <a:xfrm>
            <a:off x="3048000" y="2108200"/>
            <a:ext cx="533400" cy="533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063B80A3-F072-F8CF-61D0-F375AD247748}"/>
              </a:ext>
            </a:extLst>
          </p:cNvPr>
          <p:cNvSpPr txBox="1"/>
          <p:nvPr/>
        </p:nvSpPr>
        <p:spPr>
          <a:xfrm>
            <a:off x="3048000" y="2235200"/>
            <a:ext cx="533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7DBFC68-87FB-7787-D98B-714E2E445C79}"/>
              </a:ext>
            </a:extLst>
          </p:cNvPr>
          <p:cNvSpPr txBox="1"/>
          <p:nvPr/>
        </p:nvSpPr>
        <p:spPr>
          <a:xfrm>
            <a:off x="3048000" y="2870200"/>
            <a:ext cx="147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Caso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D8B141-8AF6-53A8-EF2A-FA01EA863450}"/>
              </a:ext>
            </a:extLst>
          </p:cNvPr>
          <p:cNvSpPr txBox="1"/>
          <p:nvPr/>
        </p:nvSpPr>
        <p:spPr>
          <a:xfrm>
            <a:off x="3048000" y="3403600"/>
            <a:ext cx="14732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>
                <a:solidFill>
                  <a:srgbClr val="53647C"/>
                </a:solidFill>
                <a:latin typeface="Aptos" panose="020B0004020202020204" pitchFamily="34" charset="0"/>
              </a:rPr>
              <a:t>Cliente, mensaje, estado, prioridad y categoría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A2CA74E-65AA-4E4A-278E-4DCF4EF7FC2D}"/>
              </a:ext>
            </a:extLst>
          </p:cNvPr>
          <p:cNvSpPr txBox="1"/>
          <p:nvPr/>
        </p:nvSpPr>
        <p:spPr>
          <a:xfrm>
            <a:off x="4737100" y="3111500"/>
            <a:ext cx="304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000" b="1">
                <a:solidFill>
                  <a:srgbClr val="FFBD4A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850F5C66-AAB5-01A5-B2C5-B592644208C9}"/>
              </a:ext>
            </a:extLst>
          </p:cNvPr>
          <p:cNvSpPr/>
          <p:nvPr/>
        </p:nvSpPr>
        <p:spPr>
          <a:xfrm>
            <a:off x="5029200" y="1879600"/>
            <a:ext cx="1905000" cy="285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8F692450-8178-71C6-0D5E-8A3F1BFA6DF4}"/>
              </a:ext>
            </a:extLst>
          </p:cNvPr>
          <p:cNvSpPr/>
          <p:nvPr/>
        </p:nvSpPr>
        <p:spPr>
          <a:xfrm>
            <a:off x="5257800" y="2108200"/>
            <a:ext cx="533400" cy="533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6C845F70-CF1C-F79F-84EE-864130DDE53B}"/>
              </a:ext>
            </a:extLst>
          </p:cNvPr>
          <p:cNvSpPr txBox="1"/>
          <p:nvPr/>
        </p:nvSpPr>
        <p:spPr>
          <a:xfrm>
            <a:off x="5257800" y="2235200"/>
            <a:ext cx="533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A815B46-6897-05A7-812C-6EDF253126B8}"/>
              </a:ext>
            </a:extLst>
          </p:cNvPr>
          <p:cNvSpPr txBox="1"/>
          <p:nvPr/>
        </p:nvSpPr>
        <p:spPr>
          <a:xfrm>
            <a:off x="5257800" y="2870200"/>
            <a:ext cx="147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Asistente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C0B31D7-ED77-2C57-48EF-5347EF3F8B93}"/>
              </a:ext>
            </a:extLst>
          </p:cNvPr>
          <p:cNvSpPr txBox="1"/>
          <p:nvPr/>
        </p:nvSpPr>
        <p:spPr>
          <a:xfrm>
            <a:off x="5257800" y="3403600"/>
            <a:ext cx="1473200" cy="5078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>
                <a:solidFill>
                  <a:srgbClr val="53647C"/>
                </a:solidFill>
                <a:latin typeface="Aptos" panose="020B0004020202020204" pitchFamily="34" charset="0"/>
              </a:rPr>
              <a:t>Resumen, intención, faltantes y borrador editable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CA91527-5B60-5AED-D61E-A2AF6EA083EF}"/>
              </a:ext>
            </a:extLst>
          </p:cNvPr>
          <p:cNvSpPr txBox="1"/>
          <p:nvPr/>
        </p:nvSpPr>
        <p:spPr>
          <a:xfrm>
            <a:off x="6946900" y="3111500"/>
            <a:ext cx="304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000" b="1">
                <a:solidFill>
                  <a:srgbClr val="FFBD4A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142F1EB5-32C8-E808-0178-B6FC08B51097}"/>
              </a:ext>
            </a:extLst>
          </p:cNvPr>
          <p:cNvSpPr/>
          <p:nvPr/>
        </p:nvSpPr>
        <p:spPr>
          <a:xfrm>
            <a:off x="7239000" y="1879600"/>
            <a:ext cx="1905000" cy="285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12B4C031-E0CE-95E8-7F4D-C55C2A24B25B}"/>
              </a:ext>
            </a:extLst>
          </p:cNvPr>
          <p:cNvSpPr/>
          <p:nvPr/>
        </p:nvSpPr>
        <p:spPr>
          <a:xfrm>
            <a:off x="7467600" y="2108200"/>
            <a:ext cx="533400" cy="533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9809E2F3-5AEE-8D61-0F23-A22C8AC4086B}"/>
              </a:ext>
            </a:extLst>
          </p:cNvPr>
          <p:cNvSpPr txBox="1"/>
          <p:nvPr/>
        </p:nvSpPr>
        <p:spPr>
          <a:xfrm>
            <a:off x="7467600" y="2235200"/>
            <a:ext cx="533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993D0087-3629-60F2-FBE2-3E184BCE6E17}"/>
              </a:ext>
            </a:extLst>
          </p:cNvPr>
          <p:cNvSpPr txBox="1"/>
          <p:nvPr/>
        </p:nvSpPr>
        <p:spPr>
          <a:xfrm>
            <a:off x="7467600" y="2870200"/>
            <a:ext cx="147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Responsable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28952BB7-D07A-6C7A-A7BA-54690530A0F2}"/>
              </a:ext>
            </a:extLst>
          </p:cNvPr>
          <p:cNvSpPr txBox="1"/>
          <p:nvPr/>
        </p:nvSpPr>
        <p:spPr>
          <a:xfrm>
            <a:off x="7467600" y="3403600"/>
            <a:ext cx="14732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>
                <a:solidFill>
                  <a:srgbClr val="53647C"/>
                </a:solidFill>
                <a:latin typeface="Aptos" panose="020B0004020202020204" pitchFamily="34" charset="0"/>
              </a:rPr>
              <a:t>Asignación, notas y trazabilidad del trabajo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96587B24-1976-3A22-7A34-62701F9FAEB8}"/>
              </a:ext>
            </a:extLst>
          </p:cNvPr>
          <p:cNvSpPr txBox="1"/>
          <p:nvPr/>
        </p:nvSpPr>
        <p:spPr>
          <a:xfrm>
            <a:off x="9156700" y="3111500"/>
            <a:ext cx="3048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000" b="1">
                <a:solidFill>
                  <a:srgbClr val="FFBD4A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E077DD8E-8736-9D04-840F-F7386658FC75}"/>
              </a:ext>
            </a:extLst>
          </p:cNvPr>
          <p:cNvSpPr/>
          <p:nvPr/>
        </p:nvSpPr>
        <p:spPr>
          <a:xfrm>
            <a:off x="9448800" y="1879600"/>
            <a:ext cx="1905000" cy="2857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2EBF5833-91C5-12EB-B435-86BC4348F465}"/>
              </a:ext>
            </a:extLst>
          </p:cNvPr>
          <p:cNvSpPr/>
          <p:nvPr/>
        </p:nvSpPr>
        <p:spPr>
          <a:xfrm>
            <a:off x="9677400" y="2108200"/>
            <a:ext cx="533400" cy="533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A44704C-46F7-4313-BE28-121001C99347}"/>
              </a:ext>
            </a:extLst>
          </p:cNvPr>
          <p:cNvSpPr txBox="1"/>
          <p:nvPr/>
        </p:nvSpPr>
        <p:spPr>
          <a:xfrm>
            <a:off x="9677400" y="2235200"/>
            <a:ext cx="5334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BCECC43-F512-A171-09AF-8AA68DB9E08A}"/>
              </a:ext>
            </a:extLst>
          </p:cNvPr>
          <p:cNvSpPr txBox="1"/>
          <p:nvPr/>
        </p:nvSpPr>
        <p:spPr>
          <a:xfrm>
            <a:off x="9677400" y="2870200"/>
            <a:ext cx="1473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Seguimiento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8CC2B0E-2AF0-CCDD-47DA-C4AD558EDE63}"/>
              </a:ext>
            </a:extLst>
          </p:cNvPr>
          <p:cNvSpPr txBox="1"/>
          <p:nvPr/>
        </p:nvSpPr>
        <p:spPr>
          <a:xfrm>
            <a:off x="9677400" y="3403600"/>
            <a:ext cx="14732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>
                <a:solidFill>
                  <a:srgbClr val="53647C"/>
                </a:solidFill>
                <a:latin typeface="Aptos" panose="020B0004020202020204" pitchFamily="34" charset="0"/>
              </a:rPr>
              <a:t>Citas, recordatorios y cierre medible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49E089B0-6BC3-31D7-18C8-89D6C9C631EF}"/>
              </a:ext>
            </a:extLst>
          </p:cNvPr>
          <p:cNvSpPr txBox="1"/>
          <p:nvPr/>
        </p:nvSpPr>
        <p:spPr>
          <a:xfrm>
            <a:off x="1651000" y="5283200"/>
            <a:ext cx="889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b="1">
                <a:solidFill>
                  <a:srgbClr val="075FC6"/>
                </a:solidFill>
                <a:latin typeface="Aptos" panose="020B0004020202020204" pitchFamily="34" charset="0"/>
              </a:rPr>
              <a:t>La persona conserva el control de la respuesta y de cada decisión.</a:t>
            </a:r>
          </a:p>
        </p:txBody>
      </p:sp>
    </p:spTree>
    <p:extLst>
      <p:ext uri="{BB962C8B-B14F-4D97-AF65-F5344CB8AC3E}">
        <p14:creationId xmlns:p14="http://schemas.microsoft.com/office/powerpoint/2010/main" val="397544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A3B5CA1-57B6-F715-C454-6F12A910C5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46BD950-2CE3-20A7-BDC5-28D85E6DE7C7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30CB7FB-4632-CB97-57CE-B5C7AC01D5B9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F36B8353-F4F8-2754-44F4-463BEFCE3B0F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3FC47A8-269C-8DB6-D271-F38BA78B21E5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03 · PRODUCTO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2CD3A29-9288-DEC4-0A2A-679EED4C780E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Una cola operativa compartida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8CEE6C2-E8DE-DAE0-EAC6-AE42E012DCA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1A245035-6B6E-9975-33E9-C7BEDDE0F7AB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BF1F62-8284-EB70-A4BA-00134F0B3F29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E83A7AE-AF21-7039-D5FC-0DDE90C73AFC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E85023C-F35B-BD94-CF08-E04118210E4F}"/>
              </a:ext>
            </a:extLst>
          </p:cNvPr>
          <p:cNvSpPr/>
          <p:nvPr/>
        </p:nvSpPr>
        <p:spPr>
          <a:xfrm>
            <a:off x="546100" y="1511300"/>
            <a:ext cx="7620000" cy="403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AC24365-275E-DFD8-74C5-F30E6AC1BC6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74800"/>
            <a:ext cx="7493000" cy="3911600"/>
          </a:xfrm>
          <a:prstGeom prst="rect">
            <a:avLst/>
          </a:prstGeom>
        </p:spPr>
      </p:pic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AECCC6C-8E20-4428-1B1D-F02B7DF21E37}"/>
              </a:ext>
            </a:extLst>
          </p:cNvPr>
          <p:cNvSpPr/>
          <p:nvPr/>
        </p:nvSpPr>
        <p:spPr>
          <a:xfrm>
            <a:off x="8509000" y="15748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2FEB32AC-A32B-A290-C4EB-76D9B5A4B521}"/>
              </a:ext>
            </a:extLst>
          </p:cNvPr>
          <p:cNvSpPr/>
          <p:nvPr/>
        </p:nvSpPr>
        <p:spPr>
          <a:xfrm>
            <a:off x="8509000" y="1574800"/>
            <a:ext cx="76200" cy="11938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1C259DB-CF56-5865-4224-7EE5DB065D5B}"/>
              </a:ext>
            </a:extLst>
          </p:cNvPr>
          <p:cNvSpPr txBox="1"/>
          <p:nvPr/>
        </p:nvSpPr>
        <p:spPr>
          <a:xfrm>
            <a:off x="8763000" y="18034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Prioridades visibles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4A9C314-CE76-DBFB-3E27-2844A6F1B44F}"/>
              </a:ext>
            </a:extLst>
          </p:cNvPr>
          <p:cNvSpPr txBox="1"/>
          <p:nvPr/>
        </p:nvSpPr>
        <p:spPr>
          <a:xfrm>
            <a:off x="8763000" y="22352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Nuevos, en seguimiento, esperando cliente y urgentes.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6E02F08-2BB8-DE0B-D9E1-6F03128F2739}"/>
              </a:ext>
            </a:extLst>
          </p:cNvPr>
          <p:cNvSpPr/>
          <p:nvPr/>
        </p:nvSpPr>
        <p:spPr>
          <a:xfrm>
            <a:off x="8509000" y="29464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3D9C3FBF-6F26-98E7-E9F2-38C98D7757B5}"/>
              </a:ext>
            </a:extLst>
          </p:cNvPr>
          <p:cNvSpPr/>
          <p:nvPr/>
        </p:nvSpPr>
        <p:spPr>
          <a:xfrm>
            <a:off x="8509000" y="2946400"/>
            <a:ext cx="76200" cy="11938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9B7860F-7F3F-EB62-3421-C48BE3D33FAB}"/>
              </a:ext>
            </a:extLst>
          </p:cNvPr>
          <p:cNvSpPr txBox="1"/>
          <p:nvPr/>
        </p:nvSpPr>
        <p:spPr>
          <a:xfrm>
            <a:off x="8763000" y="31750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Trabajo coordinado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C8CB0EF-D6E7-E931-8798-B4FE5F2624BF}"/>
              </a:ext>
            </a:extLst>
          </p:cNvPr>
          <p:cNvSpPr txBox="1"/>
          <p:nvPr/>
        </p:nvSpPr>
        <p:spPr>
          <a:xfrm>
            <a:off x="8763000" y="36068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Casos, citas y seguimientos en el mismo panel.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18B40619-B6F7-D695-DFB7-28DF90B3B371}"/>
              </a:ext>
            </a:extLst>
          </p:cNvPr>
          <p:cNvSpPr/>
          <p:nvPr/>
        </p:nvSpPr>
        <p:spPr>
          <a:xfrm>
            <a:off x="8509000" y="43180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BACD4F7-7D95-5BF4-3DBD-9E0D84D152E8}"/>
              </a:ext>
            </a:extLst>
          </p:cNvPr>
          <p:cNvSpPr/>
          <p:nvPr/>
        </p:nvSpPr>
        <p:spPr>
          <a:xfrm>
            <a:off x="8509000" y="4318000"/>
            <a:ext cx="76200" cy="11938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04B8F0E-506E-F208-5822-82FDC8050A38}"/>
              </a:ext>
            </a:extLst>
          </p:cNvPr>
          <p:cNvSpPr txBox="1"/>
          <p:nvPr/>
        </p:nvSpPr>
        <p:spPr>
          <a:xfrm>
            <a:off x="8763000" y="45466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Visión por canal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60AE653-4CF3-472D-78F5-7CE78C5EBB92}"/>
              </a:ext>
            </a:extLst>
          </p:cNvPr>
          <p:cNvSpPr txBox="1"/>
          <p:nvPr/>
        </p:nvSpPr>
        <p:spPr>
          <a:xfrm>
            <a:off x="8763000" y="49784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Distribución y volumen sin revisar varias bandejas.</a:t>
            </a:r>
          </a:p>
        </p:txBody>
      </p:sp>
    </p:spTree>
    <p:extLst>
      <p:ext uri="{BB962C8B-B14F-4D97-AF65-F5344CB8AC3E}">
        <p14:creationId xmlns:p14="http://schemas.microsoft.com/office/powerpoint/2010/main" val="3622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0E79F13-F838-CEE5-1F16-83B0C5052C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9510F4B-0886-53B7-7241-01578F1A1B73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BAB2C07-DCD0-F00F-2ED3-AFB614EB64F3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1D9B604-BBBC-7B04-0303-571BC260DC55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1EE58FE-B826-1E40-11D8-F31A62CFB48D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04 · ASISTENTE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7621B1E-53F5-8F72-CDDF-C1435B6B2943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De un mensaje a una respuesta accionable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C769331-FD7F-A1CE-1AF2-1186D41D87F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FA73B794-11E5-2275-CE5D-4F55FD9139E4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EE526B9-015D-5028-7E68-813510A41CA1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544CE66-3BA5-32F9-0DB5-0BA639E7B624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F2A47166-CA08-4EEC-84DC-C3BFF93B7B01}"/>
              </a:ext>
            </a:extLst>
          </p:cNvPr>
          <p:cNvSpPr/>
          <p:nvPr/>
        </p:nvSpPr>
        <p:spPr>
          <a:xfrm>
            <a:off x="546100" y="1511300"/>
            <a:ext cx="7620000" cy="4038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9552E75B-AAE5-307C-E22C-9FFCFD96066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74800"/>
            <a:ext cx="7493000" cy="3911600"/>
          </a:xfrm>
          <a:prstGeom prst="rect">
            <a:avLst/>
          </a:prstGeom>
        </p:spPr>
      </p:pic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EC97E5EC-7A04-43F1-D8E7-6D6451AA97A6}"/>
              </a:ext>
            </a:extLst>
          </p:cNvPr>
          <p:cNvSpPr/>
          <p:nvPr/>
        </p:nvSpPr>
        <p:spPr>
          <a:xfrm>
            <a:off x="8509000" y="15748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E3C9377-6E88-8B72-2FD3-56B39D3E9834}"/>
              </a:ext>
            </a:extLst>
          </p:cNvPr>
          <p:cNvSpPr/>
          <p:nvPr/>
        </p:nvSpPr>
        <p:spPr>
          <a:xfrm>
            <a:off x="8509000" y="1574800"/>
            <a:ext cx="76200" cy="11938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011A039-5D06-F884-1635-62FDE1EFBAD5}"/>
              </a:ext>
            </a:extLst>
          </p:cNvPr>
          <p:cNvSpPr txBox="1"/>
          <p:nvPr/>
        </p:nvSpPr>
        <p:spPr>
          <a:xfrm>
            <a:off x="8763000" y="18034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Comprensión rápida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4EF0C5F-EA97-5B07-C923-B744426AA70A}"/>
              </a:ext>
            </a:extLst>
          </p:cNvPr>
          <p:cNvSpPr txBox="1"/>
          <p:nvPr/>
        </p:nvSpPr>
        <p:spPr>
          <a:xfrm>
            <a:off x="8763000" y="22352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Resumen, intención, prioridad y categoría.</a:t>
            </a:r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3D1B9649-F0F2-9F78-5416-9661D2D7CFB6}"/>
              </a:ext>
            </a:extLst>
          </p:cNvPr>
          <p:cNvSpPr/>
          <p:nvPr/>
        </p:nvSpPr>
        <p:spPr>
          <a:xfrm>
            <a:off x="8509000" y="29464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2CEC59CD-E77E-B93B-3B3A-D86D5272C353}"/>
              </a:ext>
            </a:extLst>
          </p:cNvPr>
          <p:cNvSpPr/>
          <p:nvPr/>
        </p:nvSpPr>
        <p:spPr>
          <a:xfrm>
            <a:off x="8509000" y="2946400"/>
            <a:ext cx="76200" cy="11938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3A0A96F-97D4-9236-9CF6-10998B78BB51}"/>
              </a:ext>
            </a:extLst>
          </p:cNvPr>
          <p:cNvSpPr txBox="1"/>
          <p:nvPr/>
        </p:nvSpPr>
        <p:spPr>
          <a:xfrm>
            <a:off x="8763000" y="31750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Información faltante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B555CCB0-0527-7231-E277-69E73345B3F3}"/>
              </a:ext>
            </a:extLst>
          </p:cNvPr>
          <p:cNvSpPr txBox="1"/>
          <p:nvPr/>
        </p:nvSpPr>
        <p:spPr>
          <a:xfrm>
            <a:off x="8763000" y="36068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El equipo sabe qué necesita preguntar antes de actuar.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6EC6213D-2F04-C373-4CFB-D88D62633C31}"/>
              </a:ext>
            </a:extLst>
          </p:cNvPr>
          <p:cNvSpPr/>
          <p:nvPr/>
        </p:nvSpPr>
        <p:spPr>
          <a:xfrm>
            <a:off x="8509000" y="4318000"/>
            <a:ext cx="3073400" cy="1193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906C119E-7D1F-9211-4BC7-EF07D9FD1A47}"/>
              </a:ext>
            </a:extLst>
          </p:cNvPr>
          <p:cNvSpPr/>
          <p:nvPr/>
        </p:nvSpPr>
        <p:spPr>
          <a:xfrm>
            <a:off x="8509000" y="4318000"/>
            <a:ext cx="76200" cy="11938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FC5FE35-566F-8F8A-3FF6-4642DDBFA7F3}"/>
              </a:ext>
            </a:extLst>
          </p:cNvPr>
          <p:cNvSpPr txBox="1"/>
          <p:nvPr/>
        </p:nvSpPr>
        <p:spPr>
          <a:xfrm>
            <a:off x="8763000" y="4546600"/>
            <a:ext cx="26416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Borrador editable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233C9473-CC23-E95D-8023-F8B7139E7887}"/>
              </a:ext>
            </a:extLst>
          </p:cNvPr>
          <p:cNvSpPr txBox="1"/>
          <p:nvPr/>
        </p:nvSpPr>
        <p:spPr>
          <a:xfrm>
            <a:off x="8763000" y="4978400"/>
            <a:ext cx="26416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La IA prepara; la persona revisa, adapta y decide.</a:t>
            </a:r>
          </a:p>
        </p:txBody>
      </p:sp>
    </p:spTree>
    <p:extLst>
      <p:ext uri="{BB962C8B-B14F-4D97-AF65-F5344CB8AC3E}">
        <p14:creationId xmlns:p14="http://schemas.microsoft.com/office/powerpoint/2010/main" val="26737763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79A1B67-EA2B-76C7-3ECE-433F10C99B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9B9CB30-1E23-2713-1E5B-B6442B277190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136E52C-7588-2E8A-2590-EDDAA5AB862D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A6D7836-795C-DA11-1CA0-DE3B428C9575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4555472-277C-840B-8DA5-13DB250643EF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05 · CAPACIDADES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9C69214-7E6C-B035-3FCF-B4E6A7F1358D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Qué puede demostrar COPPE hoy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2FBF259-4219-0686-8933-D9A83F700E8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43F1DB79-39FB-3F18-9527-79DE829FBA22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9ABC212-5955-3BF3-04BE-BDBA54F82E24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EDE7336-CCFB-A2EE-88E1-FEF9D5FF9BF1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3EB7D8EB-89DB-CA63-1669-B1193FBAEB39}"/>
              </a:ext>
            </a:extLst>
          </p:cNvPr>
          <p:cNvSpPr/>
          <p:nvPr/>
        </p:nvSpPr>
        <p:spPr>
          <a:xfrm>
            <a:off x="609600" y="16764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C63A215-5676-E341-C835-F5D85EBA2D25}"/>
              </a:ext>
            </a:extLst>
          </p:cNvPr>
          <p:cNvSpPr/>
          <p:nvPr/>
        </p:nvSpPr>
        <p:spPr>
          <a:xfrm>
            <a:off x="609600" y="1676400"/>
            <a:ext cx="76200" cy="1498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25BE566-8292-8AD4-E32E-0460643720C4}"/>
              </a:ext>
            </a:extLst>
          </p:cNvPr>
          <p:cNvSpPr txBox="1"/>
          <p:nvPr/>
        </p:nvSpPr>
        <p:spPr>
          <a:xfrm>
            <a:off x="863600" y="19050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Multiempresa y roles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4A04A8E-9778-3104-B9D1-74DA44C2CA3B}"/>
              </a:ext>
            </a:extLst>
          </p:cNvPr>
          <p:cNvSpPr txBox="1"/>
          <p:nvPr/>
        </p:nvSpPr>
        <p:spPr>
          <a:xfrm>
            <a:off x="863600" y="23368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Aislamiento por empresa, propietario y miembros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60D0CB6D-3C1C-7867-4523-1395B25F6EDD}"/>
              </a:ext>
            </a:extLst>
          </p:cNvPr>
          <p:cNvSpPr/>
          <p:nvPr/>
        </p:nvSpPr>
        <p:spPr>
          <a:xfrm>
            <a:off x="4318000" y="16764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19F48C3-F2A0-8CE7-0A38-81C7CE24DE03}"/>
              </a:ext>
            </a:extLst>
          </p:cNvPr>
          <p:cNvSpPr/>
          <p:nvPr/>
        </p:nvSpPr>
        <p:spPr>
          <a:xfrm>
            <a:off x="4318000" y="1676400"/>
            <a:ext cx="76200" cy="14986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77B5584-D2F1-23C8-A3F5-9F1C10C34A31}"/>
              </a:ext>
            </a:extLst>
          </p:cNvPr>
          <p:cNvSpPr txBox="1"/>
          <p:nvPr/>
        </p:nvSpPr>
        <p:spPr>
          <a:xfrm>
            <a:off x="4572000" y="19050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Clientes y casos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ED941BF-4CA0-C56C-E1D9-1D80FD0B770F}"/>
              </a:ext>
            </a:extLst>
          </p:cNvPr>
          <p:cNvSpPr txBox="1"/>
          <p:nvPr/>
        </p:nvSpPr>
        <p:spPr>
          <a:xfrm>
            <a:off x="4572000" y="23368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Historial, estados, filtros, prioridades y canales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CBF9D8CC-6B34-A40F-30E7-32E8B15B9899}"/>
              </a:ext>
            </a:extLst>
          </p:cNvPr>
          <p:cNvSpPr/>
          <p:nvPr/>
        </p:nvSpPr>
        <p:spPr>
          <a:xfrm>
            <a:off x="8026400" y="16764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3F65E8C8-7059-E798-7A3E-A275619340C6}"/>
              </a:ext>
            </a:extLst>
          </p:cNvPr>
          <p:cNvSpPr/>
          <p:nvPr/>
        </p:nvSpPr>
        <p:spPr>
          <a:xfrm>
            <a:off x="8026400" y="1676400"/>
            <a:ext cx="76200" cy="1498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8532088-F212-3C19-4828-732AB367170B}"/>
              </a:ext>
            </a:extLst>
          </p:cNvPr>
          <p:cNvSpPr txBox="1"/>
          <p:nvPr/>
        </p:nvSpPr>
        <p:spPr>
          <a:xfrm>
            <a:off x="8280400" y="19050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Trabajo operativo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91975BC-76F7-6C05-E73D-D197A6A97880}"/>
              </a:ext>
            </a:extLst>
          </p:cNvPr>
          <p:cNvSpPr txBox="1"/>
          <p:nvPr/>
        </p:nvSpPr>
        <p:spPr>
          <a:xfrm>
            <a:off x="8280400" y="23368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Responsables, notas, citas y seguimientos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0D72538F-34C3-B3C2-76D3-D653CE08F73E}"/>
              </a:ext>
            </a:extLst>
          </p:cNvPr>
          <p:cNvSpPr/>
          <p:nvPr/>
        </p:nvSpPr>
        <p:spPr>
          <a:xfrm>
            <a:off x="609600" y="35052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E9099E4-1B1B-0E19-DFC4-A74788EDFFDF}"/>
              </a:ext>
            </a:extLst>
          </p:cNvPr>
          <p:cNvSpPr/>
          <p:nvPr/>
        </p:nvSpPr>
        <p:spPr>
          <a:xfrm>
            <a:off x="609600" y="3505200"/>
            <a:ext cx="76200" cy="14986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164BC9A-9571-018B-D50B-95AE0FF19362}"/>
              </a:ext>
            </a:extLst>
          </p:cNvPr>
          <p:cNvSpPr txBox="1"/>
          <p:nvPr/>
        </p:nvSpPr>
        <p:spPr>
          <a:xfrm>
            <a:off x="863600" y="37338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Asistente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6951525-3208-AFF6-3E34-A5A7537015D6}"/>
              </a:ext>
            </a:extLst>
          </p:cNvPr>
          <p:cNvSpPr txBox="1"/>
          <p:nvPr/>
        </p:nvSpPr>
        <p:spPr>
          <a:xfrm>
            <a:off x="863600" y="41656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Motor local o OpenAI, con revisión humana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D0DD5C0-F502-BD20-2D25-15476E60DB6B}"/>
              </a:ext>
            </a:extLst>
          </p:cNvPr>
          <p:cNvSpPr/>
          <p:nvPr/>
        </p:nvSpPr>
        <p:spPr>
          <a:xfrm>
            <a:off x="4318000" y="35052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0F205DF7-6355-D257-FFAD-0D3E9E49E592}"/>
              </a:ext>
            </a:extLst>
          </p:cNvPr>
          <p:cNvSpPr/>
          <p:nvPr/>
        </p:nvSpPr>
        <p:spPr>
          <a:xfrm>
            <a:off x="4318000" y="3505200"/>
            <a:ext cx="76200" cy="1498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AF4DFB4-AC0F-E38F-61F4-8E9BE9E189EB}"/>
              </a:ext>
            </a:extLst>
          </p:cNvPr>
          <p:cNvSpPr txBox="1"/>
          <p:nvPr/>
        </p:nvSpPr>
        <p:spPr>
          <a:xfrm>
            <a:off x="4572000" y="37338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Canales web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A5550093-2635-6B08-7671-F3BFF3BDCDA3}"/>
              </a:ext>
            </a:extLst>
          </p:cNvPr>
          <p:cNvSpPr txBox="1"/>
          <p:nvPr/>
        </p:nvSpPr>
        <p:spPr>
          <a:xfrm>
            <a:off x="4572000" y="41656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Formulario y chat públicos por empresa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8F5C7BCB-F5A7-DC50-87E9-57189F16DB7D}"/>
              </a:ext>
            </a:extLst>
          </p:cNvPr>
          <p:cNvSpPr/>
          <p:nvPr/>
        </p:nvSpPr>
        <p:spPr>
          <a:xfrm>
            <a:off x="8026400" y="35052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AE51197-CFF3-7C5A-1E85-1255806E14F1}"/>
              </a:ext>
            </a:extLst>
          </p:cNvPr>
          <p:cNvSpPr/>
          <p:nvPr/>
        </p:nvSpPr>
        <p:spPr>
          <a:xfrm>
            <a:off x="8026400" y="3505200"/>
            <a:ext cx="76200" cy="14986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972ABCC-07B6-69F1-09AE-8EFF6F3BE921}"/>
              </a:ext>
            </a:extLst>
          </p:cNvPr>
          <p:cNvSpPr txBox="1"/>
          <p:nvPr/>
        </p:nvSpPr>
        <p:spPr>
          <a:xfrm>
            <a:off x="8280400" y="37338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91735D73-FCD0-5ECC-B244-8DA15D2B6EB2}"/>
              </a:ext>
            </a:extLst>
          </p:cNvPr>
          <p:cNvSpPr txBox="1"/>
          <p:nvPr/>
        </p:nvSpPr>
        <p:spPr>
          <a:xfrm>
            <a:off x="8280400" y="41656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MFA, auditoría, exportación y límites de API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6A554BC2-AA49-43B4-36AC-B380373892C0}"/>
              </a:ext>
            </a:extLst>
          </p:cNvPr>
          <p:cNvSpPr txBox="1"/>
          <p:nvPr/>
        </p:nvSpPr>
        <p:spPr>
          <a:xfrm>
            <a:off x="1016000" y="5537200"/>
            <a:ext cx="10160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300">
                <a:solidFill>
                  <a:srgbClr val="53647C"/>
                </a:solidFill>
                <a:latin typeface="Aptos" panose="020B0004020202020204" pitchFamily="34" charset="0"/>
              </a:rPr>
              <a:t>Email y WhatsApp están integrados y se habilitan por cliente después de validar proveedor, dominio, permisos y webhooks.</a:t>
            </a:r>
          </a:p>
        </p:txBody>
      </p:sp>
    </p:spTree>
    <p:extLst>
      <p:ext uri="{BB962C8B-B14F-4D97-AF65-F5344CB8AC3E}">
        <p14:creationId xmlns:p14="http://schemas.microsoft.com/office/powerpoint/2010/main" val="1836550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418EC8D-0242-C184-578C-945940179A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6A1BA89-B02B-9933-E89F-A63B35986E17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ABC679C-9566-7477-BFEE-F15A60F62C70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3531894-B6BE-7BF8-72B7-87384D39FDE0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6EFC862-1AE4-7CD3-C273-E6838F597E6B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06 · AUTOMATIZACIÓN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4BE3F57-3C76-5168-C10C-6AC680C64F5B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Rapidez para el cliente; control para el equipo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BA812F2-E9D8-987B-2657-CCA0F20855D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C0DBBD6C-DD45-2735-2A99-8E01EDEFE548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16CC2E3-1B36-A56D-8496-3878AEB141B4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9BBFF67-0082-4B9E-870A-3490B2498C3F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1571B99-9C10-3C7A-60A7-F1F3177FB071}"/>
              </a:ext>
            </a:extLst>
          </p:cNvPr>
          <p:cNvSpPr/>
          <p:nvPr/>
        </p:nvSpPr>
        <p:spPr>
          <a:xfrm>
            <a:off x="609600" y="16510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50DFCACA-66DE-C742-CF70-8B3FB349ACD1}"/>
              </a:ext>
            </a:extLst>
          </p:cNvPr>
          <p:cNvSpPr/>
          <p:nvPr/>
        </p:nvSpPr>
        <p:spPr>
          <a:xfrm>
            <a:off x="609600" y="1651000"/>
            <a:ext cx="76200" cy="1498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BA34363-7260-E096-2DED-4B0D6E8CC291}"/>
              </a:ext>
            </a:extLst>
          </p:cNvPr>
          <p:cNvSpPr txBox="1"/>
          <p:nvPr/>
        </p:nvSpPr>
        <p:spPr>
          <a:xfrm>
            <a:off x="8636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Cortesía inmediata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0FC850B-4185-5968-AB00-01EE05744C52}"/>
              </a:ext>
            </a:extLst>
          </p:cNvPr>
          <p:cNvSpPr txBox="1"/>
          <p:nvPr/>
        </p:nvSpPr>
        <p:spPr>
          <a:xfrm>
            <a:off x="863600" y="2311400"/>
            <a:ext cx="29464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Acuse automático en el primer contacto, con deduplicación y sin responder a mensajes en cuarentena.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EC468CF2-A659-4F11-8168-D0CE8DFF0B70}"/>
              </a:ext>
            </a:extLst>
          </p:cNvPr>
          <p:cNvSpPr/>
          <p:nvPr/>
        </p:nvSpPr>
        <p:spPr>
          <a:xfrm>
            <a:off x="4406900" y="16510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F2013EE1-F6B4-C0A4-B0DC-3FB7A0EEE1D7}"/>
              </a:ext>
            </a:extLst>
          </p:cNvPr>
          <p:cNvSpPr/>
          <p:nvPr/>
        </p:nvSpPr>
        <p:spPr>
          <a:xfrm>
            <a:off x="4406900" y="1651000"/>
            <a:ext cx="76200" cy="1498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435AB9C-ECC3-F80E-C1AE-C981B75A28BB}"/>
              </a:ext>
            </a:extLst>
          </p:cNvPr>
          <p:cNvSpPr txBox="1"/>
          <p:nvPr/>
        </p:nvSpPr>
        <p:spPr>
          <a:xfrm>
            <a:off x="46609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Alertas omnicanal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85E1883-796D-9420-A419-F8751146C59F}"/>
              </a:ext>
            </a:extLst>
          </p:cNvPr>
          <p:cNvSpPr txBox="1"/>
          <p:nvPr/>
        </p:nvSpPr>
        <p:spPr>
          <a:xfrm>
            <a:off x="4660900" y="2311400"/>
            <a:ext cx="29464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Contador, panel de mensajes nuevos, marcado de lectura y aviso de escritorio opcional.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5A853971-15D9-0533-4F82-CAE7ADFFA393}"/>
              </a:ext>
            </a:extLst>
          </p:cNvPr>
          <p:cNvSpPr/>
          <p:nvPr/>
        </p:nvSpPr>
        <p:spPr>
          <a:xfrm>
            <a:off x="8204200" y="1651000"/>
            <a:ext cx="3378200" cy="149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885E785-48F9-D7D3-4243-859FDF5EDA0E}"/>
              </a:ext>
            </a:extLst>
          </p:cNvPr>
          <p:cNvSpPr/>
          <p:nvPr/>
        </p:nvSpPr>
        <p:spPr>
          <a:xfrm>
            <a:off x="8204200" y="1651000"/>
            <a:ext cx="76200" cy="14986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6BE74F3-B9EE-47DB-8085-3C040BFA19EF}"/>
              </a:ext>
            </a:extLst>
          </p:cNvPr>
          <p:cNvSpPr txBox="1"/>
          <p:nvPr/>
        </p:nvSpPr>
        <p:spPr>
          <a:xfrm>
            <a:off x="84582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Filtro de ruido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5D274A1A-7294-A6CC-31D6-4C35843E710F}"/>
              </a:ext>
            </a:extLst>
          </p:cNvPr>
          <p:cNvSpPr txBox="1"/>
          <p:nvPr/>
        </p:nvSpPr>
        <p:spPr>
          <a:xfrm>
            <a:off x="8458200" y="2311400"/>
            <a:ext cx="29464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Heurísticas, límites, reglas de remitente y cuarentena recuperable para spam y publicidad.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7A8A1046-26B2-35E3-3DF2-623AC6DFEE73}"/>
              </a:ext>
            </a:extLst>
          </p:cNvPr>
          <p:cNvSpPr/>
          <p:nvPr/>
        </p:nvSpPr>
        <p:spPr>
          <a:xfrm>
            <a:off x="609600" y="3606800"/>
            <a:ext cx="10972800" cy="1955800"/>
          </a:xfrm>
          <a:prstGeom prst="roundRect">
            <a:avLst>
              <a:gd name="adj" fmla="val 12000"/>
            </a:avLst>
          </a:prstGeom>
          <a:solidFill>
            <a:srgbClr val="061633"/>
          </a:solidFill>
          <a:ln>
            <a:solidFill>
              <a:srgbClr val="061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C4CE4B0-4B9C-BA3B-3DBD-1FBB21B136CB}"/>
              </a:ext>
            </a:extLst>
          </p:cNvPr>
          <p:cNvSpPr txBox="1"/>
          <p:nvPr/>
        </p:nvSpPr>
        <p:spPr>
          <a:xfrm>
            <a:off x="965200" y="3937000"/>
            <a:ext cx="4445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200" b="1">
                <a:solidFill>
                  <a:srgbClr val="FFFFFF"/>
                </a:solidFill>
                <a:latin typeface="Aptos Display" panose="020B0004020202020204" pitchFamily="34" charset="0"/>
              </a:rPr>
              <a:t>Agenda sin dobles citas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87FEAE4-FEF2-DB3F-C148-40DC94C3DDE0}"/>
              </a:ext>
            </a:extLst>
          </p:cNvPr>
          <p:cNvSpPr txBox="1"/>
          <p:nvPr/>
        </p:nvSpPr>
        <p:spPr>
          <a:xfrm>
            <a:off x="965200" y="4559300"/>
            <a:ext cx="9652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400">
                <a:solidFill>
                  <a:srgbClr val="D7E9FF"/>
                </a:solidFill>
                <a:latin typeface="Aptos" panose="020B0004020202020204" pitchFamily="34" charset="0"/>
              </a:rPr>
              <a:t>Validación atómica por responsable · duración y márgenes protegidos · recursos en paralelo · vista diaria y semanal</a:t>
            </a: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55356C95-54CE-D875-4DAA-98A1BC6679D1}"/>
              </a:ext>
            </a:extLst>
          </p:cNvPr>
          <p:cNvSpPr/>
          <p:nvPr/>
        </p:nvSpPr>
        <p:spPr>
          <a:xfrm>
            <a:off x="10058400" y="3924300"/>
            <a:ext cx="965200" cy="965200"/>
          </a:xfrm>
          <a:prstGeom prst="roundRect">
            <a:avLst>
              <a:gd name="adj" fmla="val 30000"/>
            </a:avLst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CD3B9EBA-A86F-E360-4E4D-4C0FBF4338FB}"/>
              </a:ext>
            </a:extLst>
          </p:cNvPr>
          <p:cNvSpPr txBox="1"/>
          <p:nvPr/>
        </p:nvSpPr>
        <p:spPr>
          <a:xfrm>
            <a:off x="10058400" y="4165600"/>
            <a:ext cx="965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400" b="1">
                <a:solidFill>
                  <a:srgbClr val="12CFE3"/>
                </a:solidFill>
                <a:latin typeface="Aptos Display" panose="020B0004020202020204" pitchFamily="34" charset="0"/>
              </a:rPr>
              <a:t>0×</a:t>
            </a:r>
          </a:p>
        </p:txBody>
      </p:sp>
    </p:spTree>
    <p:extLst>
      <p:ext uri="{BB962C8B-B14F-4D97-AF65-F5344CB8AC3E}">
        <p14:creationId xmlns:p14="http://schemas.microsoft.com/office/powerpoint/2010/main" val="275461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CA78374-86C6-12B4-AEEF-C3F32A3C95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2B6AD2F-0161-A857-8029-BF6B93D0BDAF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A575EF4-E808-5F3D-5D39-4942D9A2B6E2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0F6BCBC4-C656-3932-3DA3-1F5A43AC4892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41886F2-9AF0-85D6-F9B8-7885FEEAEBC7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07 · SEGURIDAD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A6249C0-3187-CCCC-DBC7-8C562C4716B2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Control técnico sin vender humo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FADCB5F-EE1D-5EC1-2924-8203CEB4BD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17BDAC2F-03AF-80B6-CEB8-11E198210934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E78D78D-EA64-E863-9BB8-75C099F83FC8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18F0F57-C85D-BDC9-E8D9-10B46BA303FD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906FEFC-D976-81DF-EE74-E2E2D0699B05}"/>
              </a:ext>
            </a:extLst>
          </p:cNvPr>
          <p:cNvSpPr/>
          <p:nvPr/>
        </p:nvSpPr>
        <p:spPr>
          <a:xfrm>
            <a:off x="609600" y="1651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0DFFEC-1C19-EF7E-7E52-3BB2C839A2ED}"/>
              </a:ext>
            </a:extLst>
          </p:cNvPr>
          <p:cNvSpPr/>
          <p:nvPr/>
        </p:nvSpPr>
        <p:spPr>
          <a:xfrm>
            <a:off x="609600" y="1651000"/>
            <a:ext cx="76200" cy="13335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304EEA7-26E3-E375-7D22-AB60C76DE502}"/>
              </a:ext>
            </a:extLst>
          </p:cNvPr>
          <p:cNvSpPr txBox="1"/>
          <p:nvPr/>
        </p:nvSpPr>
        <p:spPr>
          <a:xfrm>
            <a:off x="8636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Aislamiento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328B2BC-B404-89F3-F965-AC086BF1514A}"/>
              </a:ext>
            </a:extLst>
          </p:cNvPr>
          <p:cNvSpPr txBox="1"/>
          <p:nvPr/>
        </p:nvSpPr>
        <p:spPr>
          <a:xfrm>
            <a:off x="863600" y="23114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RLS y comprobaciones explícitas de pertenencia.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1C810E1-EF4E-6029-C1E8-CEAF90CB0014}"/>
              </a:ext>
            </a:extLst>
          </p:cNvPr>
          <p:cNvSpPr/>
          <p:nvPr/>
        </p:nvSpPr>
        <p:spPr>
          <a:xfrm>
            <a:off x="4406900" y="1651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BBC02B5F-46B2-EC35-91B3-77A6DBCE8407}"/>
              </a:ext>
            </a:extLst>
          </p:cNvPr>
          <p:cNvSpPr/>
          <p:nvPr/>
        </p:nvSpPr>
        <p:spPr>
          <a:xfrm>
            <a:off x="4406900" y="1651000"/>
            <a:ext cx="76200" cy="13335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28EF445A-D724-8F22-AB35-2980FE1D34B6}"/>
              </a:ext>
            </a:extLst>
          </p:cNvPr>
          <p:cNvSpPr txBox="1"/>
          <p:nvPr/>
        </p:nvSpPr>
        <p:spPr>
          <a:xfrm>
            <a:off x="46609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Acceso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CA8FD67F-0F2E-79DC-454C-9AA0B8666C71}"/>
              </a:ext>
            </a:extLst>
          </p:cNvPr>
          <p:cNvSpPr txBox="1"/>
          <p:nvPr/>
        </p:nvSpPr>
        <p:spPr>
          <a:xfrm>
            <a:off x="4660900" y="23114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Roles y MFA TOTP para proteger cuentas.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8EC947D9-DEC4-9E7C-E737-5278F5A64E8B}"/>
              </a:ext>
            </a:extLst>
          </p:cNvPr>
          <p:cNvSpPr/>
          <p:nvPr/>
        </p:nvSpPr>
        <p:spPr>
          <a:xfrm>
            <a:off x="8204200" y="1651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2A9FB25B-5E44-526E-8930-0F09166EC283}"/>
              </a:ext>
            </a:extLst>
          </p:cNvPr>
          <p:cNvSpPr/>
          <p:nvPr/>
        </p:nvSpPr>
        <p:spPr>
          <a:xfrm>
            <a:off x="8204200" y="1651000"/>
            <a:ext cx="76200" cy="13335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23BB108-FEEF-23E5-274C-C19906E01F0D}"/>
              </a:ext>
            </a:extLst>
          </p:cNvPr>
          <p:cNvSpPr txBox="1"/>
          <p:nvPr/>
        </p:nvSpPr>
        <p:spPr>
          <a:xfrm>
            <a:off x="8458200" y="1879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Trazabilidad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0FE513E-8E3B-6FBD-6C1E-7BB2196ED20C}"/>
              </a:ext>
            </a:extLst>
          </p:cNvPr>
          <p:cNvSpPr txBox="1"/>
          <p:nvPr/>
        </p:nvSpPr>
        <p:spPr>
          <a:xfrm>
            <a:off x="8458200" y="2311400"/>
            <a:ext cx="29464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Auditoría de acciones y autoría operativa.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57799BEE-0A53-59C6-8F3A-F53F1D526989}"/>
              </a:ext>
            </a:extLst>
          </p:cNvPr>
          <p:cNvSpPr/>
          <p:nvPr/>
        </p:nvSpPr>
        <p:spPr>
          <a:xfrm>
            <a:off x="609600" y="3302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21AA4ECE-5888-ED7C-9711-5515EAEC184D}"/>
              </a:ext>
            </a:extLst>
          </p:cNvPr>
          <p:cNvSpPr/>
          <p:nvPr/>
        </p:nvSpPr>
        <p:spPr>
          <a:xfrm>
            <a:off x="609600" y="3302000"/>
            <a:ext cx="76200" cy="13335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E525827-E358-A119-D988-E648370D14CD}"/>
              </a:ext>
            </a:extLst>
          </p:cNvPr>
          <p:cNvSpPr txBox="1"/>
          <p:nvPr/>
        </p:nvSpPr>
        <p:spPr>
          <a:xfrm>
            <a:off x="863600" y="3530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Portabilidad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474030-A765-C3EB-600B-02BDF6942D67}"/>
              </a:ext>
            </a:extLst>
          </p:cNvPr>
          <p:cNvSpPr txBox="1"/>
          <p:nvPr/>
        </p:nvSpPr>
        <p:spPr>
          <a:xfrm>
            <a:off x="863600" y="39624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Exportación por empresa y offboarding administrado.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18AD865C-9F2C-58AE-8B5C-A95BA5A60ED4}"/>
              </a:ext>
            </a:extLst>
          </p:cNvPr>
          <p:cNvSpPr/>
          <p:nvPr/>
        </p:nvSpPr>
        <p:spPr>
          <a:xfrm>
            <a:off x="4406900" y="3302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8ED7B70-9229-CC48-6079-4D2DEDEAE214}"/>
              </a:ext>
            </a:extLst>
          </p:cNvPr>
          <p:cNvSpPr/>
          <p:nvPr/>
        </p:nvSpPr>
        <p:spPr>
          <a:xfrm>
            <a:off x="4406900" y="3302000"/>
            <a:ext cx="76200" cy="13335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3DE833F-7449-53F2-13E4-8E773171474E}"/>
              </a:ext>
            </a:extLst>
          </p:cNvPr>
          <p:cNvSpPr txBox="1"/>
          <p:nvPr/>
        </p:nvSpPr>
        <p:spPr>
          <a:xfrm>
            <a:off x="4660900" y="3530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APIs críticas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0EBB184-E931-9327-1BF7-D1D1878C0F1C}"/>
              </a:ext>
            </a:extLst>
          </p:cNvPr>
          <p:cNvSpPr txBox="1"/>
          <p:nvPr/>
        </p:nvSpPr>
        <p:spPr>
          <a:xfrm>
            <a:off x="4660900" y="39624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Rate limits, firmas, idempotencia y conciliación.</a:t>
            </a:r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075C156B-6B95-6428-1BE7-0435823288B9}"/>
              </a:ext>
            </a:extLst>
          </p:cNvPr>
          <p:cNvSpPr/>
          <p:nvPr/>
        </p:nvSpPr>
        <p:spPr>
          <a:xfrm>
            <a:off x="8204200" y="3302000"/>
            <a:ext cx="3378200" cy="1333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836217F2-7FC3-1356-28E6-362767FF08F8}"/>
              </a:ext>
            </a:extLst>
          </p:cNvPr>
          <p:cNvSpPr/>
          <p:nvPr/>
        </p:nvSpPr>
        <p:spPr>
          <a:xfrm>
            <a:off x="8204200" y="3302000"/>
            <a:ext cx="76200" cy="13335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16A3714-F3C2-6E1E-420F-C15F3C758638}"/>
              </a:ext>
            </a:extLst>
          </p:cNvPr>
          <p:cNvSpPr txBox="1"/>
          <p:nvPr/>
        </p:nvSpPr>
        <p:spPr>
          <a:xfrm>
            <a:off x="8458200" y="3530600"/>
            <a:ext cx="2946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Producción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9E41D4A9-4B20-9C88-6548-C826D3A7A420}"/>
              </a:ext>
            </a:extLst>
          </p:cNvPr>
          <p:cNvSpPr txBox="1"/>
          <p:nvPr/>
        </p:nvSpPr>
        <p:spPr>
          <a:xfrm>
            <a:off x="8458200" y="3962400"/>
            <a:ext cx="29464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Copias, monitorización y contratos antes de datos reales.</a:t>
            </a:r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3DAF6025-0DFE-4F5C-E204-AF0873B2FA2A}"/>
              </a:ext>
            </a:extLst>
          </p:cNvPr>
          <p:cNvSpPr/>
          <p:nvPr/>
        </p:nvSpPr>
        <p:spPr>
          <a:xfrm>
            <a:off x="1422400" y="5181600"/>
            <a:ext cx="9347200" cy="736600"/>
          </a:xfrm>
          <a:prstGeom prst="roundRect">
            <a:avLst>
              <a:gd name="adj" fmla="val 12000"/>
            </a:avLst>
          </a:prstGeom>
          <a:solidFill>
            <a:srgbClr val="F3F8FC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DA51BC0-8FC1-6466-D0F9-FF1B8DF1BE54}"/>
              </a:ext>
            </a:extLst>
          </p:cNvPr>
          <p:cNvSpPr txBox="1"/>
          <p:nvPr/>
        </p:nvSpPr>
        <p:spPr>
          <a:xfrm>
            <a:off x="1778000" y="5410200"/>
            <a:ext cx="863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500" b="1">
                <a:solidFill>
                  <a:srgbClr val="075FC6"/>
                </a:solidFill>
                <a:latin typeface="Aptos" panose="020B0004020202020204" pitchFamily="34" charset="0"/>
              </a:rPr>
              <a:t>Sin certificaciones inventadas: ISO, SOC 2 y SLA solo se declaran cuando existan.</a:t>
            </a:r>
          </a:p>
        </p:txBody>
      </p:sp>
    </p:spTree>
    <p:extLst>
      <p:ext uri="{BB962C8B-B14F-4D97-AF65-F5344CB8AC3E}">
        <p14:creationId xmlns:p14="http://schemas.microsoft.com/office/powerpoint/2010/main" val="4240444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BDBC216-919B-F4FA-42CC-0FDF34BA4F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EE5CC5B-7771-A39A-AC9D-6078B240B060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6BFDE39-3788-7F88-1B44-3D7807228345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C8BB5504-1065-ED6D-AA8F-A28CCF858C61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694FEEE-7272-FE7F-F7E3-39322164BAB9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08 · PILOTO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A9A96A4-8511-C92E-94A4-383335720CF9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Una prueba pagada, acotada y medible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A198E47-F38F-A259-AD67-BD67A6D77CD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58C50741-6085-2B6B-411A-583BB0C16A94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377D5ACF-7CB8-2F0D-05E1-17DC15AB9B31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CB8267F-EB4F-BBB8-EEA8-7FE6FDD4C297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443056ED-A205-25B7-7FED-49377A26FB91}"/>
              </a:ext>
            </a:extLst>
          </p:cNvPr>
          <p:cNvSpPr/>
          <p:nvPr/>
        </p:nvSpPr>
        <p:spPr>
          <a:xfrm>
            <a:off x="609600" y="1625600"/>
            <a:ext cx="4191000" cy="3911600"/>
          </a:xfrm>
          <a:prstGeom prst="roundRect">
            <a:avLst>
              <a:gd name="adj" fmla="val 12000"/>
            </a:avLst>
          </a:prstGeom>
          <a:solidFill>
            <a:srgbClr val="061633"/>
          </a:solidFill>
          <a:ln>
            <a:solidFill>
              <a:srgbClr val="061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0038F5B-8E14-638F-7127-F0D4FCB88B76}"/>
              </a:ext>
            </a:extLst>
          </p:cNvPr>
          <p:cNvSpPr txBox="1"/>
          <p:nvPr/>
        </p:nvSpPr>
        <p:spPr>
          <a:xfrm>
            <a:off x="1041400" y="2006600"/>
            <a:ext cx="3302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3400" b="1">
                <a:solidFill>
                  <a:srgbClr val="FFFFFF"/>
                </a:solidFill>
                <a:latin typeface="Aptos Display" panose="020B0004020202020204" pitchFamily="34" charset="0"/>
              </a:rPr>
              <a:t>30 días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CB3AD8D7-797D-22F9-271D-6C1BCB87FF4C}"/>
              </a:ext>
            </a:extLst>
          </p:cNvPr>
          <p:cNvSpPr txBox="1"/>
          <p:nvPr/>
        </p:nvSpPr>
        <p:spPr>
          <a:xfrm>
            <a:off x="1041400" y="2895600"/>
            <a:ext cx="3302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2800" b="1">
                <a:solidFill>
                  <a:srgbClr val="FFBD4A"/>
                </a:solidFill>
                <a:latin typeface="Aptos Display" panose="020B0004020202020204" pitchFamily="34" charset="0"/>
              </a:rPr>
              <a:t>1.500 € + IVA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12E19596-D6F9-778F-0A97-96B79447DFA9}"/>
              </a:ext>
            </a:extLst>
          </p:cNvPr>
          <p:cNvSpPr txBox="1"/>
          <p:nvPr/>
        </p:nvSpPr>
        <p:spPr>
          <a:xfrm>
            <a:off x="1143000" y="3886200"/>
            <a:ext cx="30988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400">
                <a:solidFill>
                  <a:srgbClr val="CDE2E5"/>
                </a:solidFill>
                <a:latin typeface="Aptos" panose="020B0004020202020204" pitchFamily="34" charset="0"/>
              </a:rPr>
              <a:t>Se imputa al onboarding si el piloto se convierte en contrato anual.</a:t>
            </a: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5E805AD4-6D1D-DD73-5141-6BF17681D349}"/>
              </a:ext>
            </a:extLst>
          </p:cNvPr>
          <p:cNvSpPr/>
          <p:nvPr/>
        </p:nvSpPr>
        <p:spPr>
          <a:xfrm>
            <a:off x="5283200" y="1625600"/>
            <a:ext cx="2895600" cy="1752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2B3230A7-22E4-74AF-6718-649BB7A8D492}"/>
              </a:ext>
            </a:extLst>
          </p:cNvPr>
          <p:cNvSpPr/>
          <p:nvPr/>
        </p:nvSpPr>
        <p:spPr>
          <a:xfrm>
            <a:off x="5283200" y="1625600"/>
            <a:ext cx="76200" cy="1752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98ED360A-67A6-FB83-7809-3F7EC9ED46DE}"/>
              </a:ext>
            </a:extLst>
          </p:cNvPr>
          <p:cNvSpPr txBox="1"/>
          <p:nvPr/>
        </p:nvSpPr>
        <p:spPr>
          <a:xfrm>
            <a:off x="5537200" y="1854200"/>
            <a:ext cx="2463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Alcance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741D3A7-88A0-9AED-4B88-F182B15949D2}"/>
              </a:ext>
            </a:extLst>
          </p:cNvPr>
          <p:cNvSpPr txBox="1"/>
          <p:nvPr/>
        </p:nvSpPr>
        <p:spPr>
          <a:xfrm>
            <a:off x="5537200" y="2286000"/>
            <a:ext cx="24638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Un equipo · hasta 10 usuarios · hasta 1.000 casos.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51796B5D-88B1-847F-9E1E-A299311A3790}"/>
              </a:ext>
            </a:extLst>
          </p:cNvPr>
          <p:cNvSpPr/>
          <p:nvPr/>
        </p:nvSpPr>
        <p:spPr>
          <a:xfrm>
            <a:off x="8559800" y="1625600"/>
            <a:ext cx="3022600" cy="1752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088B7CD1-BCC3-98C5-4252-6B5088011C41}"/>
              </a:ext>
            </a:extLst>
          </p:cNvPr>
          <p:cNvSpPr/>
          <p:nvPr/>
        </p:nvSpPr>
        <p:spPr>
          <a:xfrm>
            <a:off x="8559800" y="1625600"/>
            <a:ext cx="76200" cy="1752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D7EF491-2A7B-F8F8-B58F-C0F06FC18327}"/>
              </a:ext>
            </a:extLst>
          </p:cNvPr>
          <p:cNvSpPr txBox="1"/>
          <p:nvPr/>
        </p:nvSpPr>
        <p:spPr>
          <a:xfrm>
            <a:off x="8813800" y="1854200"/>
            <a:ext cx="2590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Incluye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2B20873-D23B-1BCD-B1DA-C5D4B0E5DD3F}"/>
              </a:ext>
            </a:extLst>
          </p:cNvPr>
          <p:cNvSpPr txBox="1"/>
          <p:nvPr/>
        </p:nvSpPr>
        <p:spPr>
          <a:xfrm>
            <a:off x="8813800" y="2286000"/>
            <a:ext cx="25908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Configuración, formación, revisión semanal e informe final.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18473F9-3B78-17B8-4422-98029C4068DA}"/>
              </a:ext>
            </a:extLst>
          </p:cNvPr>
          <p:cNvSpPr/>
          <p:nvPr/>
        </p:nvSpPr>
        <p:spPr>
          <a:xfrm>
            <a:off x="5283200" y="3708400"/>
            <a:ext cx="2895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FC4C864-A702-47FB-8DBD-A8E3679510F8}"/>
              </a:ext>
            </a:extLst>
          </p:cNvPr>
          <p:cNvSpPr/>
          <p:nvPr/>
        </p:nvSpPr>
        <p:spPr>
          <a:xfrm>
            <a:off x="5283200" y="3708400"/>
            <a:ext cx="76200" cy="1828800"/>
          </a:xfrm>
          <a:prstGeom prst="rect">
            <a:avLst/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358D9E-C0AA-B3F1-DFD7-26FC2E7700D3}"/>
              </a:ext>
            </a:extLst>
          </p:cNvPr>
          <p:cNvSpPr txBox="1"/>
          <p:nvPr/>
        </p:nvSpPr>
        <p:spPr>
          <a:xfrm>
            <a:off x="5537200" y="3937000"/>
            <a:ext cx="2463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Medimos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4B86E2C-2BA3-1655-269B-3007EBED8631}"/>
              </a:ext>
            </a:extLst>
          </p:cNvPr>
          <p:cNvSpPr txBox="1"/>
          <p:nvPr/>
        </p:nvSpPr>
        <p:spPr>
          <a:xfrm>
            <a:off x="5537200" y="4368800"/>
            <a:ext cx="24638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Primera revisión, casos sin responsable, vencidos y resolución.</a:t>
            </a:r>
          </a:p>
        </p:txBody>
      </p:sp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CB92E1B1-226A-71ED-A8DB-9E0CDF2FD4F5}"/>
              </a:ext>
            </a:extLst>
          </p:cNvPr>
          <p:cNvSpPr/>
          <p:nvPr/>
        </p:nvSpPr>
        <p:spPr>
          <a:xfrm>
            <a:off x="8559800" y="3708400"/>
            <a:ext cx="3022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FD0951CC-1BBE-29E6-FA4D-1D49CBDE066D}"/>
              </a:ext>
            </a:extLst>
          </p:cNvPr>
          <p:cNvSpPr/>
          <p:nvPr/>
        </p:nvSpPr>
        <p:spPr>
          <a:xfrm>
            <a:off x="8559800" y="3708400"/>
            <a:ext cx="76200" cy="18288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D3984D8-3737-DBB0-5FB2-3574A49BCB31}"/>
              </a:ext>
            </a:extLst>
          </p:cNvPr>
          <p:cNvSpPr txBox="1"/>
          <p:nvPr/>
        </p:nvSpPr>
        <p:spPr>
          <a:xfrm>
            <a:off x="8813800" y="3937000"/>
            <a:ext cx="2590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Después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98C5271-205B-ECE3-4368-9CA4B35ECBE6}"/>
              </a:ext>
            </a:extLst>
          </p:cNvPr>
          <p:cNvSpPr txBox="1"/>
          <p:nvPr/>
        </p:nvSpPr>
        <p:spPr>
          <a:xfrm>
            <a:off x="8813800" y="4368800"/>
            <a:ext cx="25908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50">
                <a:solidFill>
                  <a:srgbClr val="53647C"/>
                </a:solidFill>
                <a:latin typeface="Aptos" panose="020B0004020202020204" pitchFamily="34" charset="0"/>
              </a:rPr>
              <a:t>Professional: 399 € + IVA/mes, sujeto a contrato final.</a:t>
            </a:r>
          </a:p>
        </p:txBody>
      </p:sp>
    </p:spTree>
    <p:extLst>
      <p:ext uri="{BB962C8B-B14F-4D97-AF65-F5344CB8AC3E}">
        <p14:creationId xmlns:p14="http://schemas.microsoft.com/office/powerpoint/2010/main" val="11962242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63CC13A1-780F-115A-A6A1-5AA948FED40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E"/>
          </a:solidFill>
          <a:ln>
            <a:solidFill>
              <a:srgbClr val="F8FB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264A70A-EADA-0A19-3385-C9F7D665971B}"/>
              </a:ext>
            </a:extLst>
          </p:cNvPr>
          <p:cNvSpPr/>
          <p:nvPr/>
        </p:nvSpPr>
        <p:spPr>
          <a:xfrm>
            <a:off x="0" y="0"/>
            <a:ext cx="7874000" cy="101600"/>
          </a:xfrm>
          <a:prstGeom prst="rect">
            <a:avLst/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E52244E-66CD-CB7C-DDB3-63BE5CA86691}"/>
              </a:ext>
            </a:extLst>
          </p:cNvPr>
          <p:cNvSpPr/>
          <p:nvPr/>
        </p:nvSpPr>
        <p:spPr>
          <a:xfrm>
            <a:off x="7874000" y="0"/>
            <a:ext cx="2794000" cy="1016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CC6B3F2-526D-4EDA-5E62-659E3966F8F7}"/>
              </a:ext>
            </a:extLst>
          </p:cNvPr>
          <p:cNvSpPr/>
          <p:nvPr/>
        </p:nvSpPr>
        <p:spPr>
          <a:xfrm>
            <a:off x="10668000" y="0"/>
            <a:ext cx="1524000" cy="101600"/>
          </a:xfrm>
          <a:prstGeom prst="rect">
            <a:avLst/>
          </a:prstGeom>
          <a:solidFill>
            <a:srgbClr val="10D6B1"/>
          </a:solidFill>
          <a:ln>
            <a:solidFill>
              <a:srgbClr val="10D6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632D446-E30E-3436-83A0-C961DFC59F93}"/>
              </a:ext>
            </a:extLst>
          </p:cNvPr>
          <p:cNvSpPr txBox="1"/>
          <p:nvPr/>
        </p:nvSpPr>
        <p:spPr>
          <a:xfrm>
            <a:off x="609600" y="381000"/>
            <a:ext cx="3302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000" b="1">
                <a:solidFill>
                  <a:srgbClr val="075FC6"/>
                </a:solidFill>
                <a:latin typeface="Aptos" panose="020B0004020202020204" pitchFamily="34" charset="0"/>
              </a:rPr>
              <a:t>09 · ACTIVACIÓN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015632E-3778-C6F4-B0A6-A110C54BB075}"/>
              </a:ext>
            </a:extLst>
          </p:cNvPr>
          <p:cNvSpPr txBox="1"/>
          <p:nvPr/>
        </p:nvSpPr>
        <p:spPr>
          <a:xfrm>
            <a:off x="609600" y="736600"/>
            <a:ext cx="10414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2700" b="1">
                <a:solidFill>
                  <a:srgbClr val="061633"/>
                </a:solidFill>
                <a:latin typeface="Aptos Display" panose="020B0004020202020204" pitchFamily="34" charset="0"/>
              </a:rPr>
              <a:t>Del sí comercial al primer piloto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118B614-BD18-F0D4-9170-20E04728C15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9800" y="317500"/>
            <a:ext cx="482600" cy="482600"/>
          </a:xfrm>
          <a:prstGeom prst="rect">
            <a:avLst/>
          </a:prstGeom>
        </p:spPr>
      </p:pic>
      <p:sp>
        <p:nvSpPr>
          <p:cNvPr id="10" name="Rectángulo 9">
            <a:extLst>
              <a:ext uri="{FF2B5EF4-FFF2-40B4-BE49-F238E27FC236}">
                <a16:creationId xmlns:a16="http://schemas.microsoft.com/office/drawing/2014/main" id="{B08658D3-DEA5-6CDC-5FA3-8F3D2406F165}"/>
              </a:ext>
            </a:extLst>
          </p:cNvPr>
          <p:cNvSpPr/>
          <p:nvPr/>
        </p:nvSpPr>
        <p:spPr>
          <a:xfrm>
            <a:off x="609600" y="6350000"/>
            <a:ext cx="10972800" cy="127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51F891B-39CF-AAA2-BF22-8E28EA6A860D}"/>
              </a:ext>
            </a:extLst>
          </p:cNvPr>
          <p:cNvSpPr txBox="1"/>
          <p:nvPr/>
        </p:nvSpPr>
        <p:spPr>
          <a:xfrm>
            <a:off x="609600" y="6502400"/>
            <a:ext cx="43180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850">
                <a:solidFill>
                  <a:srgbClr val="53647C"/>
                </a:solidFill>
                <a:latin typeface="Aptos" panose="020B0004020202020204" pitchFamily="34" charset="0"/>
              </a:rPr>
              <a:t>COPPE · Presentación comercial · Confidencial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81D6CBE-6D81-F409-D015-04E3E8F32998}"/>
              </a:ext>
            </a:extLst>
          </p:cNvPr>
          <p:cNvSpPr txBox="1"/>
          <p:nvPr/>
        </p:nvSpPr>
        <p:spPr>
          <a:xfrm>
            <a:off x="11303000" y="6502400"/>
            <a:ext cx="279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900">
                <a:solidFill>
                  <a:srgbClr val="53647C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52B8CE9-18FA-5EA6-1823-52DD5915ADA8}"/>
              </a:ext>
            </a:extLst>
          </p:cNvPr>
          <p:cNvSpPr/>
          <p:nvPr/>
        </p:nvSpPr>
        <p:spPr>
          <a:xfrm>
            <a:off x="939800" y="1600200"/>
            <a:ext cx="660400" cy="660400"/>
          </a:xfrm>
          <a:prstGeom prst="roundRect">
            <a:avLst>
              <a:gd name="adj" fmla="val 30000"/>
            </a:avLst>
          </a:prstGeom>
          <a:solidFill>
            <a:srgbClr val="FFBD4A"/>
          </a:solidFill>
          <a:ln>
            <a:solidFill>
              <a:srgbClr val="FFBD4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818CF1E-03E6-4CBE-90D6-69D2BB25ACC1}"/>
              </a:ext>
            </a:extLst>
          </p:cNvPr>
          <p:cNvSpPr txBox="1"/>
          <p:nvPr/>
        </p:nvSpPr>
        <p:spPr>
          <a:xfrm>
            <a:off x="939800" y="1778000"/>
            <a:ext cx="66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D940E4C-415C-BE12-8291-9A1D8374049C}"/>
              </a:ext>
            </a:extLst>
          </p:cNvPr>
          <p:cNvSpPr txBox="1"/>
          <p:nvPr/>
        </p:nvSpPr>
        <p:spPr>
          <a:xfrm>
            <a:off x="1955800" y="1625600"/>
            <a:ext cx="317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Pedido condicionado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085F380-94DA-8E78-C16E-D3E2DEDABBDF}"/>
              </a:ext>
            </a:extLst>
          </p:cNvPr>
          <p:cNvSpPr txBox="1"/>
          <p:nvPr/>
        </p:nvSpPr>
        <p:spPr>
          <a:xfrm>
            <a:off x="1955800" y="1981200"/>
            <a:ext cx="825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53647C"/>
                </a:solidFill>
                <a:latin typeface="Aptos" panose="020B0004020202020204" pitchFamily="34" charset="0"/>
              </a:rPr>
              <a:t>Alcance, precio y plazo sin cobrar todavía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04AE244D-C28F-4CE0-8669-BDE589CE9D84}"/>
              </a:ext>
            </a:extLst>
          </p:cNvPr>
          <p:cNvSpPr/>
          <p:nvPr/>
        </p:nvSpPr>
        <p:spPr>
          <a:xfrm>
            <a:off x="1244600" y="2260600"/>
            <a:ext cx="50800" cy="2286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992360A-4698-790D-7AF0-DD574217DE08}"/>
              </a:ext>
            </a:extLst>
          </p:cNvPr>
          <p:cNvSpPr/>
          <p:nvPr/>
        </p:nvSpPr>
        <p:spPr>
          <a:xfrm>
            <a:off x="939800" y="2489200"/>
            <a:ext cx="660400" cy="660400"/>
          </a:xfrm>
          <a:prstGeom prst="roundRect">
            <a:avLst>
              <a:gd name="adj" fmla="val 30000"/>
            </a:avLst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29C4722-267E-EB59-8781-50D46735E2F2}"/>
              </a:ext>
            </a:extLst>
          </p:cNvPr>
          <p:cNvSpPr txBox="1"/>
          <p:nvPr/>
        </p:nvSpPr>
        <p:spPr>
          <a:xfrm>
            <a:off x="939800" y="2667000"/>
            <a:ext cx="66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5D8DEB53-5543-F0A4-7F9B-5E0048EBBE95}"/>
              </a:ext>
            </a:extLst>
          </p:cNvPr>
          <p:cNvSpPr txBox="1"/>
          <p:nvPr/>
        </p:nvSpPr>
        <p:spPr>
          <a:xfrm>
            <a:off x="1955800" y="2514600"/>
            <a:ext cx="317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Entidad y contratos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9E00C1B-DBB0-C5C4-C5A5-E4FDEE548B30}"/>
              </a:ext>
            </a:extLst>
          </p:cNvPr>
          <p:cNvSpPr txBox="1"/>
          <p:nvPr/>
        </p:nvSpPr>
        <p:spPr>
          <a:xfrm>
            <a:off x="1955800" y="2870200"/>
            <a:ext cx="825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53647C"/>
                </a:solidFill>
                <a:latin typeface="Aptos" panose="020B0004020202020204" pitchFamily="34" charset="0"/>
              </a:rPr>
              <a:t>S.L.U., NIF, SaaS, DPA y soporte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88D10D1-8975-27DD-E963-9A9D4E49FC40}"/>
              </a:ext>
            </a:extLst>
          </p:cNvPr>
          <p:cNvSpPr/>
          <p:nvPr/>
        </p:nvSpPr>
        <p:spPr>
          <a:xfrm>
            <a:off x="1244600" y="3149600"/>
            <a:ext cx="50800" cy="2286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080DE964-EB9E-9053-F275-359A8BAC97B7}"/>
              </a:ext>
            </a:extLst>
          </p:cNvPr>
          <p:cNvSpPr/>
          <p:nvPr/>
        </p:nvSpPr>
        <p:spPr>
          <a:xfrm>
            <a:off x="939800" y="3378200"/>
            <a:ext cx="660400" cy="660400"/>
          </a:xfrm>
          <a:prstGeom prst="roundRect">
            <a:avLst>
              <a:gd name="adj" fmla="val 30000"/>
            </a:avLst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4CAFA2E5-A859-2FC2-0BF7-81768D895C6D}"/>
              </a:ext>
            </a:extLst>
          </p:cNvPr>
          <p:cNvSpPr txBox="1"/>
          <p:nvPr/>
        </p:nvSpPr>
        <p:spPr>
          <a:xfrm>
            <a:off x="939800" y="3556000"/>
            <a:ext cx="66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C923793-9770-8693-EE7E-8BB7FDD944E5}"/>
              </a:ext>
            </a:extLst>
          </p:cNvPr>
          <p:cNvSpPr txBox="1"/>
          <p:nvPr/>
        </p:nvSpPr>
        <p:spPr>
          <a:xfrm>
            <a:off x="1955800" y="3403600"/>
            <a:ext cx="317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Entorno profesional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E3AE3CF-EACD-F4BC-BF80-0920D225646A}"/>
              </a:ext>
            </a:extLst>
          </p:cNvPr>
          <p:cNvSpPr txBox="1"/>
          <p:nvPr/>
        </p:nvSpPr>
        <p:spPr>
          <a:xfrm>
            <a:off x="1955800" y="3759200"/>
            <a:ext cx="825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53647C"/>
                </a:solidFill>
                <a:latin typeface="Aptos" panose="020B0004020202020204" pitchFamily="34" charset="0"/>
              </a:rPr>
              <a:t>Planes comerciales, copias y monitorización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0043A232-31DC-A76A-F449-E56728E79750}"/>
              </a:ext>
            </a:extLst>
          </p:cNvPr>
          <p:cNvSpPr/>
          <p:nvPr/>
        </p:nvSpPr>
        <p:spPr>
          <a:xfrm>
            <a:off x="1244600" y="4038600"/>
            <a:ext cx="50800" cy="2286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5E166A8F-AA8A-6068-6CBA-4EAAC850F914}"/>
              </a:ext>
            </a:extLst>
          </p:cNvPr>
          <p:cNvSpPr/>
          <p:nvPr/>
        </p:nvSpPr>
        <p:spPr>
          <a:xfrm>
            <a:off x="939800" y="4267200"/>
            <a:ext cx="660400" cy="660400"/>
          </a:xfrm>
          <a:prstGeom prst="roundRect">
            <a:avLst>
              <a:gd name="adj" fmla="val 30000"/>
            </a:avLst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8EED2721-30E6-0D58-6625-6F2D1EDA94FF}"/>
              </a:ext>
            </a:extLst>
          </p:cNvPr>
          <p:cNvSpPr txBox="1"/>
          <p:nvPr/>
        </p:nvSpPr>
        <p:spPr>
          <a:xfrm>
            <a:off x="939800" y="4445000"/>
            <a:ext cx="66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AD4AA42E-7905-FC74-8B67-4015A77003B6}"/>
              </a:ext>
            </a:extLst>
          </p:cNvPr>
          <p:cNvSpPr txBox="1"/>
          <p:nvPr/>
        </p:nvSpPr>
        <p:spPr>
          <a:xfrm>
            <a:off x="1955800" y="4292600"/>
            <a:ext cx="317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Onboarding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DA261F36-6D26-9391-0B67-92450271A097}"/>
              </a:ext>
            </a:extLst>
          </p:cNvPr>
          <p:cNvSpPr txBox="1"/>
          <p:nvPr/>
        </p:nvSpPr>
        <p:spPr>
          <a:xfrm>
            <a:off x="1955800" y="4648200"/>
            <a:ext cx="825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53647C"/>
                </a:solidFill>
                <a:latin typeface="Aptos" panose="020B0004020202020204" pitchFamily="34" charset="0"/>
              </a:rPr>
              <a:t>Usuarios, canales, formación y datos autorizados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1876E9E4-8D65-6459-5D3C-E72F45665483}"/>
              </a:ext>
            </a:extLst>
          </p:cNvPr>
          <p:cNvSpPr/>
          <p:nvPr/>
        </p:nvSpPr>
        <p:spPr>
          <a:xfrm>
            <a:off x="1244600" y="4927600"/>
            <a:ext cx="50800" cy="228600"/>
          </a:xfrm>
          <a:prstGeom prst="rect">
            <a:avLst/>
          </a:prstGeom>
          <a:solidFill>
            <a:srgbClr val="D9E3EF"/>
          </a:solidFill>
          <a:ln>
            <a:solidFill>
              <a:srgbClr val="D9E3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91FB3D57-0482-0D65-44D4-026962B81202}"/>
              </a:ext>
            </a:extLst>
          </p:cNvPr>
          <p:cNvSpPr/>
          <p:nvPr/>
        </p:nvSpPr>
        <p:spPr>
          <a:xfrm>
            <a:off x="939800" y="5156200"/>
            <a:ext cx="660400" cy="660400"/>
          </a:xfrm>
          <a:prstGeom prst="roundRect">
            <a:avLst>
              <a:gd name="adj" fmla="val 30000"/>
            </a:avLst>
          </a:prstGeom>
          <a:solidFill>
            <a:srgbClr val="075FC6"/>
          </a:solidFill>
          <a:ln>
            <a:solidFill>
              <a:srgbClr val="075FC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81DDB095-6054-6016-3925-AC7D5079D59A}"/>
              </a:ext>
            </a:extLst>
          </p:cNvPr>
          <p:cNvSpPr txBox="1"/>
          <p:nvPr/>
        </p:nvSpPr>
        <p:spPr>
          <a:xfrm>
            <a:off x="939800" y="5334000"/>
            <a:ext cx="6604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99CBE7ED-CE75-63E7-5F69-2C64444436BF}"/>
              </a:ext>
            </a:extLst>
          </p:cNvPr>
          <p:cNvSpPr txBox="1"/>
          <p:nvPr/>
        </p:nvSpPr>
        <p:spPr>
          <a:xfrm>
            <a:off x="1955800" y="5181600"/>
            <a:ext cx="317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061633"/>
                </a:solidFill>
                <a:latin typeface="Aptos" panose="020B0004020202020204" pitchFamily="34" charset="0"/>
              </a:rPr>
              <a:t>Piloto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43C45CEC-7D74-D0A4-9AD9-D18AB9280608}"/>
              </a:ext>
            </a:extLst>
          </p:cNvPr>
          <p:cNvSpPr txBox="1"/>
          <p:nvPr/>
        </p:nvSpPr>
        <p:spPr>
          <a:xfrm>
            <a:off x="1955800" y="5537200"/>
            <a:ext cx="825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200">
                <a:solidFill>
                  <a:srgbClr val="53647C"/>
                </a:solidFill>
                <a:latin typeface="Aptos" panose="020B0004020202020204" pitchFamily="34" charset="0"/>
              </a:rPr>
              <a:t>30 días, métricas y decisión de continuidad</a:t>
            </a:r>
          </a:p>
        </p:txBody>
      </p:sp>
    </p:spTree>
    <p:extLst>
      <p:ext uri="{BB962C8B-B14F-4D97-AF65-F5344CB8AC3E}">
        <p14:creationId xmlns:p14="http://schemas.microsoft.com/office/powerpoint/2010/main" val="29155230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CED0B4E-6677-3BFA-FD3C-0FFF7995420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633"/>
          </a:solidFill>
          <a:ln>
            <a:solidFill>
              <a:srgbClr val="0616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F1A13A8-FD07-5E1F-07BA-C8B1BB09D71E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12CFE3"/>
          </a:solidFill>
          <a:ln>
            <a:solidFill>
              <a:srgbClr val="12CFE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9BE9A93-EE90-C55E-88C0-5EA625B0BE0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787400"/>
            <a:ext cx="1117600" cy="11176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3B5A577-5B90-F64D-2DDA-3F44E9120176}"/>
              </a:ext>
            </a:extLst>
          </p:cNvPr>
          <p:cNvSpPr txBox="1"/>
          <p:nvPr/>
        </p:nvSpPr>
        <p:spPr>
          <a:xfrm>
            <a:off x="2286000" y="990600"/>
            <a:ext cx="381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100" b="1">
                <a:solidFill>
                  <a:srgbClr val="12CFE3"/>
                </a:solidFill>
                <a:latin typeface="Aptos" panose="020B0004020202020204" pitchFamily="34" charset="0"/>
              </a:rPr>
              <a:t>SIGUIENTE PASO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C871A66-1098-56C8-7678-B501F1DA6917}"/>
              </a:ext>
            </a:extLst>
          </p:cNvPr>
          <p:cNvSpPr txBox="1"/>
          <p:nvPr/>
        </p:nvSpPr>
        <p:spPr>
          <a:xfrm>
            <a:off x="812800" y="2184400"/>
            <a:ext cx="9906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3400" b="1">
                <a:solidFill>
                  <a:srgbClr val="FFFFFF"/>
                </a:solidFill>
                <a:latin typeface="Aptos Display" panose="020B0004020202020204" pitchFamily="34" charset="0"/>
              </a:rPr>
              <a:t>Sesión de descubrimiento de 45 minutos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2907D4B-1B00-48DE-F601-B5A6A0AA1D0E}"/>
              </a:ext>
            </a:extLst>
          </p:cNvPr>
          <p:cNvSpPr txBox="1"/>
          <p:nvPr/>
        </p:nvSpPr>
        <p:spPr>
          <a:xfrm>
            <a:off x="812800" y="3810000"/>
            <a:ext cx="9271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>
                <a:solidFill>
                  <a:srgbClr val="D7E9FF"/>
                </a:solidFill>
                <a:latin typeface="Aptos" panose="020B0004020202020204" pitchFamily="34" charset="0"/>
              </a:rPr>
              <a:t>Definimos proceso, volumen, canales, responsables y métricas. Después entregamos una propuesta de piloto cerrada.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365A7FC8-F1AD-DEFE-E8A9-E53B9DDE2E45}"/>
              </a:ext>
            </a:extLst>
          </p:cNvPr>
          <p:cNvSpPr/>
          <p:nvPr/>
        </p:nvSpPr>
        <p:spPr>
          <a:xfrm>
            <a:off x="812800" y="5410200"/>
            <a:ext cx="4191000" cy="685800"/>
          </a:xfrm>
          <a:prstGeom prst="roundRect">
            <a:avLst>
              <a:gd name="adj" fmla="val 15000"/>
            </a:avLst>
          </a:prstGeom>
          <a:solidFill>
            <a:srgbClr val="0A3669"/>
          </a:solidFill>
          <a:ln>
            <a:solidFill>
              <a:srgbClr val="3171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9D40C93-F82A-0B2D-7490-227C27BA03B3}"/>
              </a:ext>
            </a:extLst>
          </p:cNvPr>
          <p:cNvSpPr txBox="1"/>
          <p:nvPr/>
        </p:nvSpPr>
        <p:spPr>
          <a:xfrm>
            <a:off x="1092200" y="5600700"/>
            <a:ext cx="3632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s-ES" sz="1600" b="1">
                <a:solidFill>
                  <a:srgbClr val="FFFFFF"/>
                </a:solidFill>
                <a:latin typeface="Aptos" panose="020B0004020202020204" pitchFamily="34" charset="0"/>
              </a:rPr>
              <a:t>COPPE · app.coppe.es</a:t>
            </a:r>
          </a:p>
        </p:txBody>
      </p:sp>
    </p:spTree>
    <p:extLst>
      <p:ext uri="{BB962C8B-B14F-4D97-AF65-F5344CB8AC3E}">
        <p14:creationId xmlns:p14="http://schemas.microsoft.com/office/powerpoint/2010/main" val="372893560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789</Words>
  <Application>Microsoft Office PowerPoint</Application>
  <PresentationFormat>Personalizado</PresentationFormat>
  <Paragraphs>148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Juanma</dc:creator>
  <cp:lastModifiedBy>Juanma</cp:lastModifiedBy>
  <cp:revision>1</cp:revision>
  <dcterms:created xsi:type="dcterms:W3CDTF">2026-06-30T17:02:02Z</dcterms:created>
  <dcterms:modified xsi:type="dcterms:W3CDTF">2026-06-30T17:02:02Z</dcterms:modified>
</cp:coreProperties>
</file>